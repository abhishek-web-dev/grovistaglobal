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061" autoAdjust="0"/>
  </p:normalViewPr>
  <p:slideViewPr>
    <p:cSldViewPr snapToGrid="0">
      <p:cViewPr>
        <p:scale>
          <a:sx n="52" d="100"/>
          <a:sy n="52" d="100"/>
        </p:scale>
        <p:origin x="1458" y="36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7T08:20:35.879"/>
    </inkml:context>
    <inkml:brush xml:id="br0">
      <inkml:brushProperty name="width" value="0.035" units="cm"/>
      <inkml:brushProperty name="height" value="0.035" units="cm"/>
    </inkml:brush>
  </inkml:definitions>
  <inkml:trace contextRef="#ctx0" brushRef="#br0">1165 91 24575,'841'0'0,"-1078"-1"0,-432-19 0,-430-4 0,2384 106 0,-1131-59 0,-74-10 0,123 4 0,93-18 0,-270 2 0,-51 5 0,-261 30 0,-119 22 0,371-47 0,34-11 0,0 0 0,1 0 0,-1 0 0,0 0 0,0 0 0,0 0 0,0 0 0,0 0 0,1 0 0,-1 0 0,0 0 0,0 0 0,0 0 0,0 0 0,1 0 0,-1 0 0,0 0 0,0 0 0,0 1 0,0-1 0,0 0 0,0 0 0,1 0 0,-1 0 0,0 0 0,0 0 0,0 0 0,0 1 0,0-1 0,0 0 0,0 0 0,0 0 0,0 0 0,0 0 0,0 1 0,0-1 0,1 0 0,-1 0 0,0 0 0,0 0 0,0 1 0,0-1 0,0 0 0,-1 0 0,1 0 0,0 0 0,0 1 0,0-1 0,0 0 0,0 0 0,0 0 0,0 0 0,0 0 0,0 1 0,0-1 0,0 0 0,0 0 0,-1 0 0,1 0 0,0 0 0,0 0 0,0 0 0,0 1 0,0-1 0,0 0 0,-1 0 0,1 0 0,0 0 0,0 0 0,9 2 0,0-1 0,0 0 0,0-1 0,14-1 0,522-57 0,-508 48 0,-37 9 0,0 1 0,-1-1 0,1 1 0,0-1 0,-1 1 0,1 0 0,0-1 0,-1 1 0,1 0 0,-1-1 0,1 1 0,-1 0 0,1-1 0,-1 1 0,1 0 0,-1 0 0,1 0 0,-1-1 0,1 1 0,-1 0 0,0 0 0,1 0 0,-1 0 0,1 0 0,-1 0 0,1 0 0,-1 0 0,1 0 0,-2 1 0,-82-6 0,-337 4 0,208 2 0,1106 0 0,-1215 0 0,-342-4 0,574-3 0,56-2 0,34 8 0,0 0 0,0 0 0,0 0 0,0-1 0,0 1 0,0 0 0,-1 0 0,1 0 0,0 0 0,0 0 0,0 0 0,0 0 0,0 0 0,0 0 0,0-1 0,0 1 0,0 0 0,0 0 0,0 0 0,0 0 0,0 0 0,0 0 0,0 0 0,-1-1 0,1 1 0,0 0 0,0 0 0,0 0 0,0 0 0,1 0 0,-1 0 0,0-1 0,0 1 0,0 0 0,0 0 0,0 0 0,0 0 0,0 0 0,0 0 0,0-1 0,0 1 0,0 0 0,0 0 0,0 0 0,0 0 0,0 0 0,1 0 0,-1 0 0,0 0 0,0 0 0,0 0 0,0 0 0,0-1 0,0 1 0,0 0 0,1 0 0,18-7 0,109-20 0,184-17 0,135 15 0,-443 29 0,181-8 0,-386 12 0,-223-5 0,405-3 0,30-3 0,45-6 0,424-37 0,-28 34 0,-847 20 0,562-4 0,-134 0 0,-118 0 0,-587 35 0,663-34 0,-6 0 0,1 1 0,0 0 0,0 1 0,0 0 0,-26 10 0,39-13 0,1 0 0,0 0 0,0 1 0,-1-1 0,1 0 0,0 0 0,0 0 0,-1 0 0,1 0 0,0 1 0,0-1 0,0 0 0,-1 0 0,1 0 0,0 1 0,0-1 0,0 0 0,-1 0 0,1 1 0,0-1 0,0 0 0,0 0 0,0 1 0,0-1 0,0 0 0,0 0 0,0 1 0,0-1 0,0 0 0,0 1 0,0-1 0,0 0 0,0 1 0,0-1 0,0 0 0,0 0 0,0 1 0,0-1 0,0 0 0,0 0 0,0 1 0,0-1 0,0 0 0,1 0 0,-1 1 0,0-1 0,0 0 0,0 0 0,1 1 0,-1-1 0,0 0 0,0 0 0,0 0 0,1 0 0,-1 1 0,0-1 0,1 0 0,-1 0 0,0 0 0,0 0 0,1 0 0,-1 0 0,0 0 0,0 0 0,1 0 0,-1 0 0,0 0 0,1 0 0,-1 0 0,27 8 0,-26-8 0,46 10 0,214 51 0,-257-60 0,-1 0 0,1 0 0,0 1 0,-1-1 0,1 1 0,-1 0 0,6 4 0,-8-6 0,-1 1 0,0-1 0,0 0 0,1 0 0,-1 1 0,0-1 0,0 0 0,0 0 0,0 1 0,1-1 0,-1 0 0,0 1 0,0-1 0,0 0 0,0 1 0,0-1 0,0 0 0,0 1 0,0-1 0,0 0 0,0 1 0,0-1 0,0 0 0,0 1 0,0-1 0,0 0 0,0 0 0,0 1 0,0-1 0,-1 0 0,1 1 0,0-1 0,-18 11 0,-15-2 0,1-2 0,-1-2 0,0-1 0,0-1 0,-40-2 0,19 0 0,-250 3 0,682-9 0,-224 6 0,-568 0 0,1378-1 0,-1035 0-1365,24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7T08:20:44.386"/>
    </inkml:context>
    <inkml:brush xml:id="br0">
      <inkml:brushProperty name="width" value="0.35" units="cm"/>
      <inkml:brushProperty name="height" value="0.35" units="cm"/>
    </inkml:brush>
  </inkml:definitions>
  <inkml:trace contextRef="#ctx0" brushRef="#br0">2319 536 24575,'-9'-1'0,"1"0"0,0 0 0,0-1 0,-1 0 0,-12-5 0,-21-5 0,-114-14 0,-1 7 0,-224 0 0,38 21 0,1506-53 0,-1019 38 0,79-11 0,-326 22 0,-822 69 0,405-22 0,-168 22 0,634-58 0,1 3 0,-61 21 0,30-9 0,38-7 0,30-5 0,16-12 0,1 1 0,-1-1 0,0 1 0,0-1 0,0 1 0,1-1 0,-1 1 0,0-1 0,0 1 0,1-1 0,-1 0 0,0 1 0,1-1 0,-1 1 0,1-1 0,-1 0 0,0 1 0,1-1 0,-1 0 0,1 0 0,-1 1 0,1-1 0,-1 0 0,1 0 0,-1 0 0,1 1 0,-1-1 0,1 0 0,-1 0 0,1 0 0,-1 0 0,1 0 0,-1 0 0,1 0 0,0 0 0,40 5 0,-1-1 0,51-1 0,-47-2 0,978 3 0,-727-6 0,-273 2 0,33 1 0,-1-2 0,90-15 0,-112 5 0,-32 11 0,0 0 0,1 0 0,-1 0 0,0-1 0,1 1 0,-1 0 0,0 0 0,1-1 0,-1 1 0,0 0 0,1 0 0,-1-1 0,0 1 0,0 0 0,1-1 0,-1 1 0,0 0 0,0-1 0,0 1 0,0 0 0,1-1 0,-1 1 0,0-1 0,0 1 0,0 0 0,0-1 0,0 1 0,0 0 0,0-1 0,0 1 0,0-1 0,0 1 0,0 0 0,-1-1 0,-1-2 0,-1 0 0,0 1 0,0 0 0,0-1 0,-1 1 0,1 0 0,-1 1 0,1-1 0,-1 1 0,1-1 0,-6 0 0,-70-22 0,-2 4 0,-130-16 0,127 23 0,-128-19 0,-303-7 0,691 17 0,62 7 0,-194 6 0,-44 9 0,0 0 0,-1 0 0,1 0 0,0 0 0,0 0 0,0 0 0,0-1 0,-1 1 0,1 0 0,0 0 0,0 0 0,0-1 0,0 1 0,0 0 0,-1 0 0,1 0 0,0-1 0,0 1 0,0 0 0,0 0 0,0 0 0,0-1 0,0 1 0,0 0 0,0 0 0,0-1 0,0 1 0,0 0 0,0 0 0,0-1 0,0 1 0,0 0 0,0 0 0,0 0 0,0-1 0,0 1 0,0 0 0,1 0 0,-1 0 0,0-1 0,0 1 0,0 0 0,0 0 0,0 0 0,1-1 0,-1 1 0,0 0 0,0 0 0,0 0 0,1 0 0,-1 0 0,0 0 0,0-1 0,0 1 0,1 0 0,-1 0 0,0 0 0,0 0 0,1 0 0,-1 0 0,0 0 0,-14-4 0,-1 0 0,1 1 0,-1 0 0,0 1 0,0 1 0,0 1 0,-15 1 0,-25-2 0,-867-9 0,845 9 0,67-2 0,18-2 0,36-6 0,85-12 0,-75 15 0,492-81 0,839-109 0,-1063 178 0,-295 21 0,-32 0 0,-46 2 0,-410 3 0,494-4 0,1 2 0,54 13 0,-39-7 0,-14-3 0,-14-4 0,0 1 0,-1 0 0,0 2 0,0 0 0,0 1 0,30 16 0,-49-23 0,-1 0 0,0 0 0,1 1 0,-1-1 0,1 0 0,-1 0 0,0 0 0,1 1 0,-1-1 0,0 0 0,0 0 0,1 1 0,-1-1 0,0 0 0,0 0 0,1 1 0,-1-1 0,0 0 0,0 1 0,0-1 0,1 1 0,-1-1 0,0 0 0,0 1 0,0-1 0,0 0 0,0 1 0,0-1 0,0 1 0,0-1 0,0 0 0,0 1 0,0-1 0,0 1 0,0-1 0,0 0 0,0 1 0,0-1 0,0 0 0,-1 1 0,1-1 0,0 0 0,0 1 0,0-1 0,-1 0 0,1 1 0,0-1 0,0 0 0,-1 1 0,1-1 0,0 0 0,-1 0 0,1 1 0,0-1 0,-1 0 0,1 0 0,0 0 0,-1 0 0,1 0 0,-1 1 0,1-1 0,-1 0 0,-17 7 0,-1-1 0,0-1 0,0-1 0,0 0 0,-39 2 0,15-2 0,-878 70 0,1095-77 0,-194 3-118,-9-1-193,1 1-1,0 1 0,-36 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14C9-8298-894E-1164-94F92782A1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7862F9-6005-AB35-C223-D4E167C7F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0A3E30-FE84-89A0-9D81-864529A6E1F7}"/>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31511396-31B4-DD93-1032-A2ACDADA0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244B21-85DA-17CA-070B-0A10B89F3197}"/>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64486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DB3E-89AB-01F6-8D59-FB8F95B38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AA7D64-BE39-B1DF-380F-415D24CE20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2DF2A-693B-2BF1-88A2-B5A0794A64A7}"/>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C6E25B15-9113-4015-E8D6-899EF208D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84089-71E3-3072-5F23-DEE8B91F21BE}"/>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2857723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C476B-DB40-FA0A-6F8D-75B8F3C8DE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37121D-D641-C6C2-6F9C-52B593E69E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FD2AEC-322F-DB94-EE77-2AB089BFFD19}"/>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1183E4DD-3A2D-F509-ED33-F05DA82D7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23A7F-DF27-1273-D066-8CA0DB4184AE}"/>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2002169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A01-D388-7BCD-D1D0-C48F0BD47B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07F9C6-9125-23A1-E372-82B14297A6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77A91F-9A2B-57BE-ED5B-0B53625808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F6BB91-A49B-05B3-DBF0-BEE9FE7EEED4}"/>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a:extLst>
              <a:ext uri="{FF2B5EF4-FFF2-40B4-BE49-F238E27FC236}">
                <a16:creationId xmlns:a16="http://schemas.microsoft.com/office/drawing/2014/main" id="{CBB69856-015C-5F5F-0CE5-5EE796F89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EA3AA9-209C-74BF-FFD2-EAE4DE5970D9}"/>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210159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B6FC-14A2-5D02-5AE5-1FE1775CAB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A4B027-B2B4-6F0A-0199-34549BE103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7CCBB3-F032-A22A-4F7A-AC6BC09A0A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1309A3-3EE3-8CAD-5D98-30B2E5B8DE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385E82-3039-D4DF-0D00-A0814A08F6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0F2139-A013-4215-B302-D26518CB42AC}"/>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8" name="Footer Placeholder 7">
            <a:extLst>
              <a:ext uri="{FF2B5EF4-FFF2-40B4-BE49-F238E27FC236}">
                <a16:creationId xmlns:a16="http://schemas.microsoft.com/office/drawing/2014/main" id="{D6531543-065B-1843-EB52-22DB0DD56D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A97ACB-A231-6E23-DA24-8DF87B00C186}"/>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87403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2951C-A567-F3D4-F532-BF6A46DABB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DAFD76-288D-9B55-D80B-1776E95768BD}"/>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4" name="Footer Placeholder 3">
            <a:extLst>
              <a:ext uri="{FF2B5EF4-FFF2-40B4-BE49-F238E27FC236}">
                <a16:creationId xmlns:a16="http://schemas.microsoft.com/office/drawing/2014/main" id="{7E886BEF-17C6-DB67-186A-638004AA47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CFA9A1-FE55-F4AE-31A5-C28BF09F2FC2}"/>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662157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7E4039-EE60-D5C9-0384-2725AB220BDC}"/>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3" name="Footer Placeholder 2">
            <a:extLst>
              <a:ext uri="{FF2B5EF4-FFF2-40B4-BE49-F238E27FC236}">
                <a16:creationId xmlns:a16="http://schemas.microsoft.com/office/drawing/2014/main" id="{9CD7B549-BCA0-4B47-F513-F00F1F984A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3FA157-E454-CEFC-3BC4-4E25D81BBAA3}"/>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828474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BC9C2-0477-527D-5A29-22F29E94E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9CCC56-5613-D06F-D5F2-DA55064D5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477CFD-D034-8E86-AD8F-E406B5B21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3316A-302A-164B-099E-BD7957055B28}"/>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a:extLst>
              <a:ext uri="{FF2B5EF4-FFF2-40B4-BE49-F238E27FC236}">
                <a16:creationId xmlns:a16="http://schemas.microsoft.com/office/drawing/2014/main" id="{B5722F5A-EBD3-B9E6-9A89-17E0ED389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8B9F95-12BB-7533-B934-2711F41983CE}"/>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4211157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DFCA-83A3-1214-8353-E4BF9E764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2AF209-60AA-1B21-8039-0C822B79F8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EE4FE5-A740-62D1-4C27-4D9D0FD4E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DF62-8D50-8693-17AB-26702A110522}"/>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a:extLst>
              <a:ext uri="{FF2B5EF4-FFF2-40B4-BE49-F238E27FC236}">
                <a16:creationId xmlns:a16="http://schemas.microsoft.com/office/drawing/2014/main" id="{FAA2CC2A-020B-2D51-AD74-D52C0A8A85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031E68-FD53-8308-8934-A566F19F69AB}"/>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2199465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2FE2-DE37-7006-967F-BE1D87F9DF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999920-60B1-78E1-3E20-7F8ACCFE16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EEAF53-3F69-60DB-38E7-AFDC8F1D5C86}"/>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0DFDD5A8-232C-0D0B-6614-AC6385352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B5AA1-2E94-E01B-9427-2DD494EE9C6E}"/>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05897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2D7C8-72B5-0E8F-1AAF-ED5B90E4AC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E5E006-8219-FF96-27BB-D56D04B4C6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7DEC7-B5B5-D4B2-67CC-7155DE38D51B}"/>
              </a:ext>
            </a:extLst>
          </p:cNvPr>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621D005E-B3C7-64F5-3512-ED3474E7D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21774-605B-048F-B22A-009D89A765FA}"/>
              </a:ext>
            </a:extLst>
          </p:cNvPr>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563010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4193045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898508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281382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4265674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444FA0-7376-4E1F-AD4C-BC283FD55F6D}"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1399083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444FA0-7376-4E1F-AD4C-BC283FD55F6D}"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3736675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444FA0-7376-4E1F-AD4C-BC283FD55F6D}"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612649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24137263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444FA0-7376-4E1F-AD4C-BC283FD55F6D}"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752643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993028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444FA0-7376-4E1F-AD4C-BC283FD55F6D}"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11FABF-9980-4DD5-908C-52489490B96B}" type="slidenum">
              <a:rPr lang="en-US" smtClean="0"/>
              <a:t>‹#›</a:t>
            </a:fld>
            <a:endParaRPr lang="en-US"/>
          </a:p>
        </p:txBody>
      </p:sp>
    </p:spTree>
    <p:extLst>
      <p:ext uri="{BB962C8B-B14F-4D97-AF65-F5344CB8AC3E}">
        <p14:creationId xmlns:p14="http://schemas.microsoft.com/office/powerpoint/2010/main" val="136462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7EE892-85AA-A7B5-16F9-0817C8C49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2721F6-14A4-8BDE-6AD8-AF7F6A48CF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A7C4E-240A-F52A-3FA0-81DDE4888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444FA0-7376-4E1F-AD4C-BC283FD55F6D}" type="datetimeFigureOut">
              <a:rPr lang="en-US" smtClean="0"/>
              <a:t>6/27/2026</a:t>
            </a:fld>
            <a:endParaRPr lang="en-US"/>
          </a:p>
        </p:txBody>
      </p:sp>
      <p:sp>
        <p:nvSpPr>
          <p:cNvPr id="5" name="Footer Placeholder 4">
            <a:extLst>
              <a:ext uri="{FF2B5EF4-FFF2-40B4-BE49-F238E27FC236}">
                <a16:creationId xmlns:a16="http://schemas.microsoft.com/office/drawing/2014/main" id="{3953DDB7-B859-C4B9-AB8F-3D75F95132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220F50-0539-5F57-332A-3376BDD78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1FABF-9980-4DD5-908C-52489490B96B}" type="slidenum">
              <a:rPr lang="en-US" smtClean="0"/>
              <a:t>‹#›</a:t>
            </a:fld>
            <a:endParaRPr lang="en-US"/>
          </a:p>
        </p:txBody>
      </p:sp>
    </p:spTree>
    <p:extLst>
      <p:ext uri="{BB962C8B-B14F-4D97-AF65-F5344CB8AC3E}">
        <p14:creationId xmlns:p14="http://schemas.microsoft.com/office/powerpoint/2010/main" val="3978633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44444FA0-7376-4E1F-AD4C-BC283FD55F6D}" type="datetimeFigureOut">
              <a:rPr lang="en-US" smtClean="0"/>
              <a:t>6/27/2026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2E11FABF-9980-4DD5-908C-52489490B96B}" type="slidenum">
              <a:rPr lang="en-US" smtClean="0"/>
              <a:t>‹#›</a:t>
            </a:fld>
            <a:endParaRPr lang="en-US"/>
          </a:p>
        </p:txBody>
      </p:sp>
    </p:spTree>
    <p:extLst>
      <p:ext uri="{BB962C8B-B14F-4D97-AF65-F5344CB8AC3E}">
        <p14:creationId xmlns:p14="http://schemas.microsoft.com/office/powerpoint/2010/main" val="7035318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customXml" Target="../ink/ink1.xml"/><Relationship Id="rId7" Type="http://schemas.openxmlformats.org/officeDocument/2006/relationships/slide" Target="slide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ustomXml" Target="../ink/ink2.xml"/><Relationship Id="rId10"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slide" Target="slide1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hyperlink" Target="mailto:grovistaglobal@gmail.com" TargetMode="External"/><Relationship Id="rId2" Type="http://schemas.openxmlformats.org/officeDocument/2006/relationships/image" Target="../media/image16.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mailto:grovistaglobal@gmail.com" TargetMode="External"/><Relationship Id="rId2" Type="http://schemas.openxmlformats.org/officeDocument/2006/relationships/image" Target="../media/image17.jpg"/><Relationship Id="rId1" Type="http://schemas.openxmlformats.org/officeDocument/2006/relationships/slideLayout" Target="../slideLayouts/slideLayout18.xml"/><Relationship Id="rId5" Type="http://schemas.openxmlformats.org/officeDocument/2006/relationships/slide" Target="slide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4E795A4-84D6-F1E8-C136-939A9FEA2FF2}"/>
              </a:ext>
            </a:extLst>
          </p:cNvPr>
          <p:cNvPicPr>
            <a:picLocks noChangeAspect="1"/>
          </p:cNvPicPr>
          <p:nvPr/>
        </p:nvPicPr>
        <p:blipFill>
          <a:blip r:embed="rId2">
            <a:extLst>
              <a:ext uri="{28A0092B-C50C-407E-A947-70E740481C1C}">
                <a14:useLocalDpi xmlns:a14="http://schemas.microsoft.com/office/drawing/2010/main" val="0"/>
              </a:ext>
            </a:extLst>
          </a:blip>
          <a:srcRect l="7462" r="21438"/>
          <a:stretch>
            <a:fillRect/>
          </a:stretch>
        </p:blipFill>
        <p:spPr>
          <a:xfrm>
            <a:off x="0" y="0"/>
            <a:ext cx="12192000"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9834E7-F4CF-C973-B269-01DC3CC27F7A}"/>
              </a:ext>
            </a:extLst>
          </p:cNvPr>
          <p:cNvSpPr>
            <a:spLocks noGrp="1"/>
          </p:cNvSpPr>
          <p:nvPr>
            <p:ph type="ctrTitle"/>
          </p:nvPr>
        </p:nvSpPr>
        <p:spPr>
          <a:xfrm>
            <a:off x="331870" y="1325423"/>
            <a:ext cx="8463150" cy="1745793"/>
          </a:xfrm>
        </p:spPr>
        <p:txBody>
          <a:bodyPr anchor="b">
            <a:normAutofit/>
          </a:bodyPr>
          <a:lstStyle/>
          <a:p>
            <a:pPr algn="l"/>
            <a:r>
              <a:rPr lang="en-US" sz="6600" b="0" i="0" dirty="0">
                <a:solidFill>
                  <a:schemeClr val="bg1"/>
                </a:solidFill>
                <a:effectLst/>
                <a:latin typeface="Berlin Sans FB" panose="020E0602020502020306" pitchFamily="34" charset="0"/>
              </a:rPr>
              <a:t>GROVISTA GLOBAL </a:t>
            </a:r>
            <a:endParaRPr lang="en-US" sz="6600" dirty="0">
              <a:solidFill>
                <a:schemeClr val="bg1"/>
              </a:solidFill>
              <a:latin typeface="Berlin Sans FB" panose="020E0602020502020306" pitchFamily="34" charset="0"/>
            </a:endParaRP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128DA4B4-2284-4B97-F4A8-CA731C07FADB}"/>
                  </a:ext>
                </a:extLst>
              </p14:cNvPr>
              <p14:cNvContentPartPr/>
              <p14:nvPr/>
            </p14:nvContentPartPr>
            <p14:xfrm>
              <a:off x="258070" y="707648"/>
              <a:ext cx="878040" cy="109440"/>
            </p14:xfrm>
          </p:contentPart>
        </mc:Choice>
        <mc:Fallback>
          <p:pic>
            <p:nvPicPr>
              <p:cNvPr id="6" name="Ink 5">
                <a:extLst>
                  <a:ext uri="{FF2B5EF4-FFF2-40B4-BE49-F238E27FC236}">
                    <a16:creationId xmlns:a16="http://schemas.microsoft.com/office/drawing/2014/main" id="{128DA4B4-2284-4B97-F4A8-CA731C07FADB}"/>
                  </a:ext>
                </a:extLst>
              </p:cNvPr>
              <p:cNvPicPr/>
              <p:nvPr/>
            </p:nvPicPr>
            <p:blipFill>
              <a:blip r:embed="rId4"/>
              <a:stretch>
                <a:fillRect/>
              </a:stretch>
            </p:blipFill>
            <p:spPr>
              <a:xfrm>
                <a:off x="251950" y="701528"/>
                <a:ext cx="89028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A17C78E1-EABA-D838-A36B-6B95CF4CF1E3}"/>
                  </a:ext>
                </a:extLst>
              </p14:cNvPr>
              <p14:cNvContentPartPr/>
              <p14:nvPr/>
            </p14:nvContentPartPr>
            <p14:xfrm>
              <a:off x="331870" y="579128"/>
              <a:ext cx="974520" cy="241560"/>
            </p14:xfrm>
          </p:contentPart>
        </mc:Choice>
        <mc:Fallback>
          <p:pic>
            <p:nvPicPr>
              <p:cNvPr id="7" name="Ink 6">
                <a:extLst>
                  <a:ext uri="{FF2B5EF4-FFF2-40B4-BE49-F238E27FC236}">
                    <a16:creationId xmlns:a16="http://schemas.microsoft.com/office/drawing/2014/main" id="{A17C78E1-EABA-D838-A36B-6B95CF4CF1E3}"/>
                  </a:ext>
                </a:extLst>
              </p:cNvPr>
              <p:cNvPicPr/>
              <p:nvPr/>
            </p:nvPicPr>
            <p:blipFill>
              <a:blip r:embed="rId6"/>
              <a:stretch>
                <a:fillRect/>
              </a:stretch>
            </p:blipFill>
            <p:spPr>
              <a:xfrm>
                <a:off x="269230" y="516488"/>
                <a:ext cx="1100160" cy="367200"/>
              </a:xfrm>
              <a:prstGeom prst="rect">
                <a:avLst/>
              </a:prstGeom>
            </p:spPr>
          </p:pic>
        </mc:Fallback>
      </mc:AlternateContent>
      <p:sp>
        <p:nvSpPr>
          <p:cNvPr id="15" name="TextBox 14">
            <a:extLst>
              <a:ext uri="{FF2B5EF4-FFF2-40B4-BE49-F238E27FC236}">
                <a16:creationId xmlns:a16="http://schemas.microsoft.com/office/drawing/2014/main" id="{5955013B-DB95-C691-0E40-2650FDB89891}"/>
              </a:ext>
            </a:extLst>
          </p:cNvPr>
          <p:cNvSpPr txBox="1"/>
          <p:nvPr/>
        </p:nvSpPr>
        <p:spPr>
          <a:xfrm>
            <a:off x="349318" y="5462890"/>
            <a:ext cx="3831020" cy="646331"/>
          </a:xfrm>
          <a:prstGeom prst="rect">
            <a:avLst/>
          </a:prstGeom>
          <a:noFill/>
        </p:spPr>
        <p:txBody>
          <a:bodyPr wrap="square" rtlCol="0">
            <a:spAutoFit/>
          </a:bodyPr>
          <a:lstStyle/>
          <a:p>
            <a:r>
              <a:rPr lang="en-US" b="1" dirty="0">
                <a:solidFill>
                  <a:schemeClr val="bg1"/>
                </a:solidFill>
                <a:latin typeface="Bahnschrift" panose="020B0502040204020203" pitchFamily="34" charset="0"/>
              </a:rPr>
              <a:t>"Quality means doing it right when no one is looking."</a:t>
            </a:r>
            <a:r>
              <a:rPr lang="en-US" dirty="0">
                <a:solidFill>
                  <a:schemeClr val="bg1"/>
                </a:solidFill>
                <a:latin typeface="Bahnschrift" panose="020B0502040204020203" pitchFamily="34" charset="0"/>
              </a:rPr>
              <a:t> – Henry Ford</a:t>
            </a:r>
          </a:p>
        </p:txBody>
      </p:sp>
      <p:sp>
        <p:nvSpPr>
          <p:cNvPr id="17" name="TextBox 16">
            <a:hlinkClick r:id="rId7" action="ppaction://hlinksldjump"/>
            <a:extLst>
              <a:ext uri="{FF2B5EF4-FFF2-40B4-BE49-F238E27FC236}">
                <a16:creationId xmlns:a16="http://schemas.microsoft.com/office/drawing/2014/main" id="{5AE75FAF-30E6-55FE-E3C5-317ECDF6EFD9}"/>
              </a:ext>
            </a:extLst>
          </p:cNvPr>
          <p:cNvSpPr txBox="1"/>
          <p:nvPr/>
        </p:nvSpPr>
        <p:spPr>
          <a:xfrm>
            <a:off x="7863126" y="151235"/>
            <a:ext cx="878039" cy="369332"/>
          </a:xfrm>
          <a:prstGeom prst="rect">
            <a:avLst/>
          </a:prstGeom>
          <a:noFill/>
        </p:spPr>
        <p:txBody>
          <a:bodyPr wrap="square" rtlCol="0">
            <a:spAutoFit/>
          </a:bodyPr>
          <a:lstStyle/>
          <a:p>
            <a:r>
              <a:rPr lang="en-US" b="1" dirty="0">
                <a:solidFill>
                  <a:schemeClr val="bg1"/>
                </a:solidFill>
                <a:hlinkClick r:id="rId7" action="ppaction://hlinksldjump"/>
              </a:rPr>
              <a:t>Home</a:t>
            </a:r>
            <a:endParaRPr lang="en-US" b="1" dirty="0">
              <a:solidFill>
                <a:schemeClr val="bg1"/>
              </a:solidFill>
            </a:endParaRPr>
          </a:p>
        </p:txBody>
      </p:sp>
      <p:sp>
        <p:nvSpPr>
          <p:cNvPr id="18" name="TextBox 17">
            <a:extLst>
              <a:ext uri="{FF2B5EF4-FFF2-40B4-BE49-F238E27FC236}">
                <a16:creationId xmlns:a16="http://schemas.microsoft.com/office/drawing/2014/main" id="{15C8CD30-8C01-4A43-FDE0-440ED8B7C3EA}"/>
              </a:ext>
            </a:extLst>
          </p:cNvPr>
          <p:cNvSpPr txBox="1"/>
          <p:nvPr/>
        </p:nvSpPr>
        <p:spPr>
          <a:xfrm>
            <a:off x="8832958" y="151235"/>
            <a:ext cx="1326451" cy="369332"/>
          </a:xfrm>
          <a:prstGeom prst="rect">
            <a:avLst/>
          </a:prstGeom>
          <a:noFill/>
        </p:spPr>
        <p:txBody>
          <a:bodyPr wrap="square" rtlCol="0">
            <a:spAutoFit/>
          </a:bodyPr>
          <a:lstStyle/>
          <a:p>
            <a:r>
              <a:rPr lang="en-US" dirty="0">
                <a:solidFill>
                  <a:schemeClr val="bg1"/>
                </a:solidFill>
                <a:hlinkClick r:id="rId8" action="ppaction://hlinksldjump"/>
              </a:rPr>
              <a:t>About us</a:t>
            </a:r>
            <a:endParaRPr lang="en-US" dirty="0">
              <a:solidFill>
                <a:schemeClr val="bg1"/>
              </a:solidFill>
            </a:endParaRPr>
          </a:p>
        </p:txBody>
      </p:sp>
      <p:sp>
        <p:nvSpPr>
          <p:cNvPr id="19" name="TextBox 18">
            <a:extLst>
              <a:ext uri="{FF2B5EF4-FFF2-40B4-BE49-F238E27FC236}">
                <a16:creationId xmlns:a16="http://schemas.microsoft.com/office/drawing/2014/main" id="{15B85FC7-D258-7631-6740-8FBC75F33566}"/>
              </a:ext>
            </a:extLst>
          </p:cNvPr>
          <p:cNvSpPr txBox="1"/>
          <p:nvPr/>
        </p:nvSpPr>
        <p:spPr>
          <a:xfrm>
            <a:off x="10120876" y="151235"/>
            <a:ext cx="1540309" cy="369332"/>
          </a:xfrm>
          <a:prstGeom prst="rect">
            <a:avLst/>
          </a:prstGeom>
          <a:noFill/>
        </p:spPr>
        <p:txBody>
          <a:bodyPr wrap="square" rtlCol="0">
            <a:spAutoFit/>
          </a:bodyPr>
          <a:lstStyle/>
          <a:p>
            <a:r>
              <a:rPr lang="en-US" dirty="0">
                <a:solidFill>
                  <a:schemeClr val="bg1"/>
                </a:solidFill>
                <a:hlinkClick r:id="rId9" action="ppaction://hlinksldjump"/>
              </a:rPr>
              <a:t>Contact us</a:t>
            </a:r>
            <a:endParaRPr lang="en-US" dirty="0">
              <a:solidFill>
                <a:schemeClr val="bg1"/>
              </a:solidFill>
            </a:endParaRPr>
          </a:p>
        </p:txBody>
      </p:sp>
      <p:sp>
        <p:nvSpPr>
          <p:cNvPr id="29" name="TextBox 28">
            <a:extLst>
              <a:ext uri="{FF2B5EF4-FFF2-40B4-BE49-F238E27FC236}">
                <a16:creationId xmlns:a16="http://schemas.microsoft.com/office/drawing/2014/main" id="{90D8C777-7122-1DA2-6D31-2D234FD33347}"/>
              </a:ext>
              <a:ext uri="{C183D7F6-B498-43B3-948B-1728B52AA6E4}">
                <adec:decorative xmlns:adec="http://schemas.microsoft.com/office/drawing/2017/decorative" val="1"/>
              </a:ext>
            </a:extLst>
          </p:cNvPr>
          <p:cNvSpPr txBox="1"/>
          <p:nvPr/>
        </p:nvSpPr>
        <p:spPr>
          <a:xfrm>
            <a:off x="2997610" y="2956740"/>
            <a:ext cx="6201696" cy="369332"/>
          </a:xfrm>
          <a:prstGeom prst="rect">
            <a:avLst/>
          </a:prstGeom>
          <a:noFill/>
        </p:spPr>
        <p:txBody>
          <a:bodyPr wrap="square">
            <a:spAutoFit/>
          </a:bodyPr>
          <a:lstStyle/>
          <a:p>
            <a:endParaRPr lang="en-US" dirty="0"/>
          </a:p>
        </p:txBody>
      </p:sp>
      <p:pic>
        <p:nvPicPr>
          <p:cNvPr id="31" name="Picture 30">
            <a:extLst>
              <a:ext uri="{FF2B5EF4-FFF2-40B4-BE49-F238E27FC236}">
                <a16:creationId xmlns:a16="http://schemas.microsoft.com/office/drawing/2014/main" id="{3A807113-A91B-4469-1F2B-B57A5EFF004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6978" y="152117"/>
            <a:ext cx="1656305" cy="954011"/>
          </a:xfrm>
          <a:prstGeom prst="rect">
            <a:avLst/>
          </a:prstGeom>
        </p:spPr>
      </p:pic>
      <p:sp>
        <p:nvSpPr>
          <p:cNvPr id="34" name="TextBox 33">
            <a:extLst>
              <a:ext uri="{FF2B5EF4-FFF2-40B4-BE49-F238E27FC236}">
                <a16:creationId xmlns:a16="http://schemas.microsoft.com/office/drawing/2014/main" id="{0F0515E1-CBB0-C14E-692F-8CCBFA9DCBC1}"/>
              </a:ext>
            </a:extLst>
          </p:cNvPr>
          <p:cNvSpPr txBox="1"/>
          <p:nvPr/>
        </p:nvSpPr>
        <p:spPr>
          <a:xfrm>
            <a:off x="485525" y="3024768"/>
            <a:ext cx="1424208" cy="461665"/>
          </a:xfrm>
          <a:prstGeom prst="rect">
            <a:avLst/>
          </a:prstGeom>
          <a:noFill/>
        </p:spPr>
        <p:txBody>
          <a:bodyPr wrap="square" rtlCol="0">
            <a:spAutoFit/>
          </a:bodyPr>
          <a:lstStyle/>
          <a:p>
            <a:r>
              <a:rPr lang="en-US" sz="2400" dirty="0">
                <a:solidFill>
                  <a:schemeClr val="bg1"/>
                </a:solidFill>
                <a:latin typeface="Berlin Sans FB" panose="020E0602020502020306" pitchFamily="34" charset="0"/>
              </a:rPr>
              <a:t>PVT LTD</a:t>
            </a:r>
          </a:p>
        </p:txBody>
      </p:sp>
    </p:spTree>
    <p:extLst>
      <p:ext uri="{BB962C8B-B14F-4D97-AF65-F5344CB8AC3E}">
        <p14:creationId xmlns:p14="http://schemas.microsoft.com/office/powerpoint/2010/main" val="32897397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1A9073-2B81-AF63-BDCD-471AF1ADEF5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6704"/>
                    </a14:imgEffect>
                  </a14:imgLayer>
                </a14:imgProps>
              </a:ext>
              <a:ext uri="{28A0092B-C50C-407E-A947-70E740481C1C}">
                <a14:useLocalDpi xmlns:a14="http://schemas.microsoft.com/office/drawing/2010/main" val="0"/>
              </a:ext>
            </a:extLst>
          </a:blip>
          <a:srcRect t="32454" r="-1" b="14353"/>
          <a:stretch>
            <a:fillRect/>
          </a:stretch>
        </p:blipFill>
        <p:spPr>
          <a:xfrm>
            <a:off x="0" y="0"/>
            <a:ext cx="9669642" cy="685800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0C084DB-B62D-D33E-0BD2-DF411B72CA8A}"/>
              </a:ext>
            </a:extLst>
          </p:cNvPr>
          <p:cNvSpPr txBox="1"/>
          <p:nvPr/>
        </p:nvSpPr>
        <p:spPr>
          <a:xfrm>
            <a:off x="-3047" y="2272261"/>
            <a:ext cx="4673667" cy="1156734"/>
          </a:xfrm>
          <a:prstGeom prst="rect">
            <a:avLst/>
          </a:prstGeom>
        </p:spPr>
        <p:txBody>
          <a:bodyPr vert="horz" lIns="91440" tIns="45720" rIns="91440" bIns="45720" rtlCol="0" anchor="ctr">
            <a:noAutofit/>
          </a:bodyPr>
          <a:lstStyle/>
          <a:p>
            <a:pPr>
              <a:lnSpc>
                <a:spcPct val="90000"/>
              </a:lnSpc>
              <a:spcBef>
                <a:spcPct val="0"/>
              </a:spcBef>
              <a:spcAft>
                <a:spcPts val="600"/>
              </a:spcAft>
            </a:pPr>
            <a:r>
              <a:rPr lang="en-US" sz="6000" dirty="0">
                <a:latin typeface="Berlin Sans FB" panose="020E0602020502020306" pitchFamily="34" charset="0"/>
                <a:ea typeface="+mj-ea"/>
                <a:cs typeface="+mj-cs"/>
              </a:rPr>
              <a:t>COMPANY OVERVIEW</a:t>
            </a:r>
          </a:p>
          <a:p>
            <a:pPr>
              <a:lnSpc>
                <a:spcPct val="90000"/>
              </a:lnSpc>
              <a:spcBef>
                <a:spcPct val="0"/>
              </a:spcBef>
              <a:spcAft>
                <a:spcPts val="600"/>
              </a:spcAft>
            </a:pPr>
            <a:endParaRPr lang="en-US" sz="7200" dirty="0">
              <a:latin typeface="+mj-lt"/>
              <a:ea typeface="+mj-ea"/>
              <a:cs typeface="+mj-cs"/>
            </a:endParaRPr>
          </a:p>
        </p:txBody>
      </p:sp>
      <p:sp>
        <p:nvSpPr>
          <p:cNvPr id="16" name="TextBox 15">
            <a:extLst>
              <a:ext uri="{FF2B5EF4-FFF2-40B4-BE49-F238E27FC236}">
                <a16:creationId xmlns:a16="http://schemas.microsoft.com/office/drawing/2014/main" id="{5FA675AA-E4F2-F514-CF8D-4A6A01F2AA2B}"/>
              </a:ext>
            </a:extLst>
          </p:cNvPr>
          <p:cNvSpPr txBox="1"/>
          <p:nvPr/>
        </p:nvSpPr>
        <p:spPr>
          <a:xfrm>
            <a:off x="5681334" y="167580"/>
            <a:ext cx="6507617" cy="5580994"/>
          </a:xfrm>
          <a:prstGeom prst="rect">
            <a:avLst/>
          </a:prstGeom>
        </p:spPr>
        <p:txBody>
          <a:bodyPr vert="horz" lIns="91440" tIns="45720" rIns="91440" bIns="45720" rtlCol="0">
            <a:noAutofit/>
          </a:bodyPr>
          <a:lstStyle/>
          <a:p>
            <a:pPr marL="342900" indent="-342900">
              <a:lnSpc>
                <a:spcPct val="90000"/>
              </a:lnSpc>
              <a:spcAft>
                <a:spcPts val="600"/>
              </a:spcAft>
              <a:buFont typeface="Arial" panose="020B0604020202020204" pitchFamily="34" charset="0"/>
              <a:buChar char="•"/>
            </a:pPr>
            <a:r>
              <a:rPr lang="en-US" sz="2000" dirty="0"/>
              <a:t>Grovista Global Pvt Ltd, incorporated on 24 July 2025, is a fast-growing business solutions and support services company headquartered in Noida, Uttar Pradesh, India. The company is led by seasoned industry experts Mr. Sanjay Razdan and Ms. Jyoti Razdan, bringing decades of experience in business development, operations, HR, training, revenue enhancement, and end-to-end service delivery.</a:t>
            </a:r>
          </a:p>
          <a:p>
            <a:pPr marL="342900" indent="-342900">
              <a:lnSpc>
                <a:spcPct val="90000"/>
              </a:lnSpc>
              <a:spcAft>
                <a:spcPts val="600"/>
              </a:spcAft>
              <a:buFont typeface="Arial" panose="020B0604020202020204" pitchFamily="34" charset="0"/>
              <a:buChar char="•"/>
            </a:pPr>
            <a:endParaRPr lang="en-US" sz="2000" dirty="0"/>
          </a:p>
          <a:p>
            <a:pPr marL="342900" indent="-342900">
              <a:lnSpc>
                <a:spcPct val="90000"/>
              </a:lnSpc>
              <a:spcAft>
                <a:spcPts val="600"/>
              </a:spcAft>
              <a:buFont typeface="Arial" panose="020B0604020202020204" pitchFamily="34" charset="0"/>
              <a:buChar char="•"/>
            </a:pPr>
            <a:r>
              <a:rPr lang="en-US" sz="2000" dirty="0"/>
              <a:t>As a multi-vertical service provider, Grovista Global specializes in offering comprehensive consulting, outsourcing, operational management, and end-to-end support services, designed to power business growth, efficiency, and profitability.</a:t>
            </a:r>
          </a:p>
          <a:p>
            <a:pPr marL="342900" indent="-342900">
              <a:lnSpc>
                <a:spcPct val="90000"/>
              </a:lnSpc>
              <a:spcAft>
                <a:spcPts val="600"/>
              </a:spcAft>
              <a:buFont typeface="Arial" panose="020B0604020202020204" pitchFamily="34" charset="0"/>
              <a:buChar char="•"/>
            </a:pPr>
            <a:endParaRPr lang="en-US" sz="2000" dirty="0"/>
          </a:p>
          <a:p>
            <a:pPr marL="342900" indent="-342900">
              <a:lnSpc>
                <a:spcPct val="90000"/>
              </a:lnSpc>
              <a:spcAft>
                <a:spcPts val="600"/>
              </a:spcAft>
              <a:buFont typeface="Arial" panose="020B0604020202020204" pitchFamily="34" charset="0"/>
              <a:buChar char="•"/>
            </a:pPr>
            <a:r>
              <a:rPr lang="en-US" sz="2000" dirty="0"/>
              <a:t>With a strong commitment to excellence, accountability, and growth-driven partnerships, Grovista Global aims to become a trusted partner for organizations looking to scale sustainably and operate with precision.</a:t>
            </a:r>
          </a:p>
        </p:txBody>
      </p:sp>
      <p:pic>
        <p:nvPicPr>
          <p:cNvPr id="22" name="Picture 21">
            <a:extLst>
              <a:ext uri="{FF2B5EF4-FFF2-40B4-BE49-F238E27FC236}">
                <a16:creationId xmlns:a16="http://schemas.microsoft.com/office/drawing/2014/main" id="{3DF2D1A6-235F-5A4D-55B8-391137698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63" y="167580"/>
            <a:ext cx="1635164" cy="941835"/>
          </a:xfrm>
          <a:prstGeom prst="rect">
            <a:avLst/>
          </a:prstGeom>
        </p:spPr>
      </p:pic>
    </p:spTree>
    <p:extLst>
      <p:ext uri="{BB962C8B-B14F-4D97-AF65-F5344CB8AC3E}">
        <p14:creationId xmlns:p14="http://schemas.microsoft.com/office/powerpoint/2010/main" val="1174903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animEffect transition="in" filter="fade">
                                      <p:cBhvr>
                                        <p:cTn id="11" dur="500"/>
                                        <p:tgtEl>
                                          <p:spTgt spid="16">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fade">
                                      <p:cBhvr>
                                        <p:cTn id="15" dur="500"/>
                                        <p:tgtEl>
                                          <p:spTgt spid="16">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fade">
                                      <p:cBhvr>
                                        <p:cTn id="19"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B1AD70-83EF-9D6E-5542-98B0E4796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968" y="643466"/>
            <a:ext cx="9564063" cy="5571067"/>
          </a:xfrm>
          <a:prstGeom prst="rect">
            <a:avLst/>
          </a:prstGeom>
        </p:spPr>
      </p:pic>
      <p:sp>
        <p:nvSpPr>
          <p:cNvPr id="4" name="Rectangle 3">
            <a:extLst>
              <a:ext uri="{FF2B5EF4-FFF2-40B4-BE49-F238E27FC236}">
                <a16:creationId xmlns:a16="http://schemas.microsoft.com/office/drawing/2014/main" id="{4EC268FF-0B1D-D590-AE5C-37BCC51BEDB0}"/>
              </a:ext>
              <a:ext uri="{C183D7F6-B498-43B3-948B-1728B52AA6E4}">
                <adec:decorative xmlns:adec="http://schemas.microsoft.com/office/drawing/2017/decorative" val="1"/>
              </a:ext>
            </a:extLst>
          </p:cNvPr>
          <p:cNvSpPr/>
          <p:nvPr/>
        </p:nvSpPr>
        <p:spPr>
          <a:xfrm>
            <a:off x="0" y="0"/>
            <a:ext cx="12192000" cy="6858000"/>
          </a:xfrm>
          <a:prstGeom prst="rect">
            <a:avLst/>
          </a:prstGeom>
          <a:gradFill flip="none" rotWithShape="1">
            <a:gsLst>
              <a:gs pos="42000">
                <a:schemeClr val="bg1">
                  <a:alpha val="0"/>
                </a:schemeClr>
              </a:gs>
              <a:gs pos="100000">
                <a:schemeClr val="tx1">
                  <a:lumMod val="65000"/>
                  <a:shade val="67500"/>
                  <a:satMod val="115000"/>
                </a:schemeClr>
              </a:gs>
              <a:gs pos="100000">
                <a:schemeClr val="tx1">
                  <a:lumMod val="65000"/>
                  <a:shade val="100000"/>
                  <a:satMod val="115000"/>
                </a:schemeClr>
              </a:gs>
            </a:gsLst>
            <a:path path="rect">
              <a:fillToRect t="100000" r="100000"/>
            </a:path>
            <a:tileRect l="-100000" b="-100000"/>
          </a:gradFill>
          <a:ln>
            <a:solidFill>
              <a:schemeClr val="bg1"/>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C940D07-352C-CCBF-CB2D-2F9785901C59}"/>
              </a:ext>
            </a:extLst>
          </p:cNvPr>
          <p:cNvSpPr txBox="1"/>
          <p:nvPr/>
        </p:nvSpPr>
        <p:spPr>
          <a:xfrm>
            <a:off x="497869" y="999384"/>
            <a:ext cx="11497734" cy="5632311"/>
          </a:xfrm>
          <a:prstGeom prst="rect">
            <a:avLst/>
          </a:prstGeom>
          <a:noFill/>
        </p:spPr>
        <p:txBody>
          <a:bodyPr wrap="square" rtlCol="0">
            <a:spAutoFit/>
          </a:bodyPr>
          <a:lstStyle/>
          <a:p>
            <a:r>
              <a:rPr lang="en-US" sz="6000" dirty="0">
                <a:latin typeface="Berlin Sans FB" panose="020E0602020502020306" pitchFamily="34" charset="0"/>
              </a:rPr>
              <a:t>VISION STATEMENT</a:t>
            </a:r>
          </a:p>
          <a:p>
            <a:pPr marL="342900" indent="-342900">
              <a:buFont typeface="Arial" panose="020B0604020202020204" pitchFamily="34" charset="0"/>
              <a:buChar char="•"/>
            </a:pPr>
            <a:r>
              <a:rPr lang="en-US" sz="2400" dirty="0"/>
              <a:t>To become a globally recognized business support and consulting partner, empowering organizations with innovative solutions that enhance productivity, profitability, and long-term sustainability.</a:t>
            </a:r>
          </a:p>
          <a:p>
            <a:endParaRPr lang="en-US" sz="2400" dirty="0"/>
          </a:p>
          <a:p>
            <a:r>
              <a:rPr lang="en-US" dirty="0"/>
              <a:t> </a:t>
            </a:r>
          </a:p>
          <a:p>
            <a:endParaRPr lang="en-US" dirty="0"/>
          </a:p>
          <a:p>
            <a:r>
              <a:rPr lang="en-US" sz="6000" dirty="0">
                <a:latin typeface="Berlin Sans FB" panose="020E0602020502020306" pitchFamily="34" charset="0"/>
              </a:rPr>
              <a:t>MISSION STATEMENT</a:t>
            </a:r>
          </a:p>
          <a:p>
            <a:pPr marL="342900" indent="-342900">
              <a:buFont typeface="Arial" panose="020B0604020202020204" pitchFamily="34" charset="0"/>
              <a:buChar char="•"/>
            </a:pPr>
            <a:r>
              <a:rPr lang="en-US" sz="2400" dirty="0"/>
              <a:t>To deliver reliable, efficient, and value-driven services across consulting, BPO, operations, HR, and event management, enabling clients to focus on their core strengths while we accelerate their growth journey.</a:t>
            </a:r>
          </a:p>
          <a:p>
            <a:endParaRPr lang="en-US" dirty="0"/>
          </a:p>
          <a:p>
            <a:endParaRPr lang="en-US" dirty="0"/>
          </a:p>
        </p:txBody>
      </p:sp>
      <p:pic>
        <p:nvPicPr>
          <p:cNvPr id="6" name="Picture 5">
            <a:extLst>
              <a:ext uri="{FF2B5EF4-FFF2-40B4-BE49-F238E27FC236}">
                <a16:creationId xmlns:a16="http://schemas.microsoft.com/office/drawing/2014/main" id="{165EC00D-F523-EB7D-F03F-90292BF49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63" y="167581"/>
            <a:ext cx="1505677" cy="867252"/>
          </a:xfrm>
          <a:prstGeom prst="rect">
            <a:avLst/>
          </a:prstGeom>
        </p:spPr>
      </p:pic>
    </p:spTree>
    <p:extLst>
      <p:ext uri="{BB962C8B-B14F-4D97-AF65-F5344CB8AC3E}">
        <p14:creationId xmlns:p14="http://schemas.microsoft.com/office/powerpoint/2010/main" val="225167615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10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barn(inVertical)">
                                      <p:cBhvr>
                                        <p:cTn id="10"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58172F-3FAC-AA44-ABF7-3567AF616120}"/>
              </a:ext>
            </a:extLst>
          </p:cNvPr>
          <p:cNvSpPr txBox="1"/>
          <p:nvPr/>
        </p:nvSpPr>
        <p:spPr>
          <a:xfrm>
            <a:off x="0" y="-21103"/>
            <a:ext cx="7518398" cy="7940635"/>
          </a:xfrm>
          <a:prstGeom prst="rect">
            <a:avLst/>
          </a:prstGeom>
          <a:noFill/>
        </p:spPr>
        <p:txBody>
          <a:bodyPr wrap="square" rtlCol="0">
            <a:spAutoFit/>
          </a:bodyPr>
          <a:lstStyle/>
          <a:p>
            <a:pPr algn="ctr"/>
            <a:r>
              <a:rPr lang="en-US" sz="6000" dirty="0">
                <a:latin typeface="Berlin Sans FB" panose="020E0602020502020306" pitchFamily="34" charset="0"/>
              </a:rPr>
              <a:t>      CORE VALUES</a:t>
            </a:r>
          </a:p>
          <a:p>
            <a:endParaRPr lang="en-US" sz="2400" dirty="0">
              <a:latin typeface="Berlin Sans FB" panose="020E0602020502020306" pitchFamily="34" charset="0"/>
            </a:endParaRPr>
          </a:p>
          <a:p>
            <a:pPr marL="342900" indent="-342900">
              <a:buFont typeface="Arial" panose="020B0604020202020204" pitchFamily="34" charset="0"/>
              <a:buChar char="•"/>
            </a:pPr>
            <a:r>
              <a:rPr lang="en-US" sz="2400" b="1" dirty="0">
                <a:latin typeface="Bahnschrift" panose="020B0502040204020203" pitchFamily="34" charset="0"/>
              </a:rPr>
              <a:t>Integrity</a:t>
            </a:r>
            <a:r>
              <a:rPr lang="en-US" sz="2400" dirty="0"/>
              <a:t> – Ethical, transparent, and accountable in all interactions</a:t>
            </a:r>
          </a:p>
          <a:p>
            <a:endParaRPr lang="en-US" sz="2400" dirty="0"/>
          </a:p>
          <a:p>
            <a:pPr marL="342900" indent="-342900">
              <a:buFont typeface="Arial" panose="020B0604020202020204" pitchFamily="34" charset="0"/>
              <a:buChar char="•"/>
            </a:pPr>
            <a:r>
              <a:rPr lang="en-US" sz="2400" b="1" dirty="0">
                <a:latin typeface="Bahnschrift" panose="020B0502040204020203" pitchFamily="34" charset="0"/>
              </a:rPr>
              <a:t>Commitment</a:t>
            </a:r>
            <a:r>
              <a:rPr lang="en-US" sz="2400" dirty="0"/>
              <a:t> – Delivering on promises with precision and discipline</a:t>
            </a:r>
          </a:p>
          <a:p>
            <a:endParaRPr lang="en-US" sz="2400" dirty="0"/>
          </a:p>
          <a:p>
            <a:pPr marL="342900" indent="-342900">
              <a:buFont typeface="Arial" panose="020B0604020202020204" pitchFamily="34" charset="0"/>
              <a:buChar char="•"/>
            </a:pPr>
            <a:r>
              <a:rPr lang="en-US" sz="2400" b="1" dirty="0">
                <a:latin typeface="Bahnschrift" panose="020B0502040204020203" pitchFamily="34" charset="0"/>
              </a:rPr>
              <a:t>Innovation</a:t>
            </a:r>
            <a:r>
              <a:rPr lang="en-US" sz="2400" dirty="0"/>
              <a:t> – Adopting smart, modern solutions for better outcomes</a:t>
            </a:r>
          </a:p>
          <a:p>
            <a:endParaRPr lang="en-US" sz="2400" dirty="0"/>
          </a:p>
          <a:p>
            <a:pPr marL="342900" indent="-342900">
              <a:buFont typeface="Arial" panose="020B0604020202020204" pitchFamily="34" charset="0"/>
              <a:buChar char="•"/>
            </a:pPr>
            <a:r>
              <a:rPr lang="en-US" sz="2400" b="1" dirty="0">
                <a:latin typeface="Bahnschrift" panose="020B0502040204020203" pitchFamily="34" charset="0"/>
              </a:rPr>
              <a:t>Excellence</a:t>
            </a:r>
            <a:r>
              <a:rPr lang="en-US" sz="2400" dirty="0"/>
              <a:t> – Setting high standards across every project and service</a:t>
            </a:r>
          </a:p>
          <a:p>
            <a:endParaRPr lang="en-US" sz="2400" dirty="0"/>
          </a:p>
          <a:p>
            <a:pPr marL="342900" indent="-342900">
              <a:buFont typeface="Arial" panose="020B0604020202020204" pitchFamily="34" charset="0"/>
              <a:buChar char="•"/>
            </a:pPr>
            <a:r>
              <a:rPr lang="en-US" sz="2400" b="1" dirty="0">
                <a:latin typeface="Bahnschrift" panose="020B0502040204020203" pitchFamily="34" charset="0"/>
              </a:rPr>
              <a:t>Growth Mindset </a:t>
            </a:r>
            <a:r>
              <a:rPr lang="en-US" sz="2400" dirty="0"/>
              <a:t>– Continuously improving and fostering long-term impact</a:t>
            </a:r>
          </a:p>
          <a:p>
            <a:r>
              <a:rPr lang="en-US" dirty="0"/>
              <a:t> </a:t>
            </a:r>
          </a:p>
          <a:p>
            <a:br>
              <a:rPr lang="en-US" dirty="0"/>
            </a:br>
            <a:endParaRPr lang="en-US" dirty="0">
              <a:effectLst/>
            </a:endParaRPr>
          </a:p>
          <a:p>
            <a:r>
              <a:rPr lang="en-US" dirty="0"/>
              <a:t> </a:t>
            </a:r>
          </a:p>
          <a:p>
            <a:endParaRPr lang="en-US" dirty="0"/>
          </a:p>
        </p:txBody>
      </p:sp>
      <p:pic>
        <p:nvPicPr>
          <p:cNvPr id="7" name="Picture 6">
            <a:extLst>
              <a:ext uri="{FF2B5EF4-FFF2-40B4-BE49-F238E27FC236}">
                <a16:creationId xmlns:a16="http://schemas.microsoft.com/office/drawing/2014/main" id="{8A1BE692-DB89-CA3B-4CDD-54475719A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11" y="133678"/>
            <a:ext cx="1635164" cy="941835"/>
          </a:xfrm>
          <a:prstGeom prst="rect">
            <a:avLst/>
          </a:prstGeom>
        </p:spPr>
      </p:pic>
      <p:pic>
        <p:nvPicPr>
          <p:cNvPr id="3" name="Picture 2">
            <a:extLst>
              <a:ext uri="{FF2B5EF4-FFF2-40B4-BE49-F238E27FC236}">
                <a16:creationId xmlns:a16="http://schemas.microsoft.com/office/drawing/2014/main" id="{CA5DAD68-C239-C27F-AF4E-9F12219728FA}"/>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7518398" y="0"/>
            <a:ext cx="4673600" cy="6879102"/>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131158403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7845ADD-DD3E-3670-AD82-75DACECDF5D7}"/>
              </a:ext>
            </a:extLst>
          </p:cNvPr>
          <p:cNvPicPr>
            <a:picLocks noChangeAspect="1"/>
          </p:cNvPicPr>
          <p:nvPr/>
        </p:nvPicPr>
        <p:blipFill>
          <a:blip r:embed="rId3">
            <a:alphaModFix amt="85000"/>
            <a:extLst>
              <a:ext uri="{28A0092B-C50C-407E-A947-70E740481C1C}">
                <a14:useLocalDpi xmlns:a14="http://schemas.microsoft.com/office/drawing/2010/main" val="0"/>
              </a:ext>
            </a:extLst>
          </a:blip>
          <a:srcRect t="15429"/>
          <a:stretch>
            <a:fillRect/>
          </a:stretch>
        </p:blipFill>
        <p:spPr>
          <a:xfrm>
            <a:off x="20" y="1282"/>
            <a:ext cx="12191980" cy="6856718"/>
          </a:xfrm>
          <a:prstGeom prst="rect">
            <a:avLst/>
          </a:prstGeom>
          <a:gradFill flip="none" rotWithShape="1">
            <a:gsLst>
              <a:gs pos="3000">
                <a:schemeClr val="bg1"/>
              </a:gs>
              <a:gs pos="86000">
                <a:schemeClr val="tx1">
                  <a:lumMod val="50000"/>
                </a:schemeClr>
              </a:gs>
              <a:gs pos="95000">
                <a:schemeClr val="tx1">
                  <a:lumMod val="65000"/>
                </a:schemeClr>
              </a:gs>
              <a:gs pos="100000">
                <a:schemeClr val="tx1">
                  <a:lumMod val="75000"/>
                </a:schemeClr>
              </a:gs>
            </a:gsLst>
            <a:path path="circle">
              <a:fillToRect l="50000" t="50000" r="50000" b="50000"/>
            </a:path>
            <a:tileRect/>
          </a:gradFill>
        </p:spPr>
      </p:pic>
      <p:sp>
        <p:nvSpPr>
          <p:cNvPr id="5" name="TextBox 4">
            <a:extLst>
              <a:ext uri="{FF2B5EF4-FFF2-40B4-BE49-F238E27FC236}">
                <a16:creationId xmlns:a16="http://schemas.microsoft.com/office/drawing/2014/main" id="{6A82B508-478C-1B4F-BA6E-9F042D1CA642}"/>
              </a:ext>
            </a:extLst>
          </p:cNvPr>
          <p:cNvSpPr txBox="1"/>
          <p:nvPr/>
        </p:nvSpPr>
        <p:spPr>
          <a:xfrm>
            <a:off x="1554480" y="203444"/>
            <a:ext cx="9083040" cy="6186309"/>
          </a:xfrm>
          <a:prstGeom prst="rect">
            <a:avLst/>
          </a:prstGeom>
          <a:noFill/>
        </p:spPr>
        <p:txBody>
          <a:bodyPr wrap="square" rtlCol="0">
            <a:spAutoFit/>
          </a:bodyPr>
          <a:lstStyle/>
          <a:p>
            <a:pPr algn="ctr"/>
            <a:r>
              <a:rPr lang="en-US" sz="6000" dirty="0">
                <a:latin typeface="Berlin Sans FB" panose="020E0602020502020306" pitchFamily="34" charset="0"/>
              </a:rPr>
              <a:t>LEADERSHIP TEAM</a:t>
            </a:r>
          </a:p>
          <a:p>
            <a:pPr algn="ctr"/>
            <a:endParaRPr lang="en-US" sz="2400" dirty="0">
              <a:latin typeface="Berlin Sans FB" panose="020E0602020502020306" pitchFamily="34" charset="0"/>
            </a:endParaRPr>
          </a:p>
          <a:p>
            <a:r>
              <a:rPr lang="en-US" sz="2400" b="1" dirty="0"/>
              <a:t>MR. SANJAY RAZDAN</a:t>
            </a:r>
          </a:p>
          <a:p>
            <a:r>
              <a:rPr lang="en-US" sz="2200" dirty="0"/>
              <a:t>Co-Founder &amp; Managing Director</a:t>
            </a:r>
          </a:p>
          <a:p>
            <a:r>
              <a:rPr lang="en-US" sz="2200" dirty="0"/>
              <a:t>A visionary leader with over 25 years of multi-industry experience. Expert in business operations, P&amp;L management, BPO leadership, channel sales, training, and startup-scale execution. He is known for transforming underperforming businesses into profitable growth centers.</a:t>
            </a:r>
          </a:p>
          <a:p>
            <a:endParaRPr lang="en-US" sz="2400" dirty="0"/>
          </a:p>
          <a:p>
            <a:endParaRPr lang="en-US" sz="2400" dirty="0"/>
          </a:p>
          <a:p>
            <a:r>
              <a:rPr lang="en-US" sz="2400" b="1" dirty="0"/>
              <a:t>MS. JYOTI RAZDAN</a:t>
            </a:r>
          </a:p>
          <a:p>
            <a:r>
              <a:rPr lang="en-US" sz="2200" dirty="0"/>
              <a:t>Co-Founder &amp; Director</a:t>
            </a:r>
          </a:p>
          <a:p>
            <a:r>
              <a:rPr lang="en-US" sz="2200" dirty="0"/>
              <a:t>Brings strong expertise in administration, HR processes, training, and operational excellence. She leads people development, compliance, and execution, ensuring smooth delivery across all verticals.</a:t>
            </a:r>
          </a:p>
          <a:p>
            <a:endParaRPr lang="en-US" dirty="0"/>
          </a:p>
        </p:txBody>
      </p:sp>
      <p:pic>
        <p:nvPicPr>
          <p:cNvPr id="10" name="Picture 9">
            <a:extLst>
              <a:ext uri="{FF2B5EF4-FFF2-40B4-BE49-F238E27FC236}">
                <a16:creationId xmlns:a16="http://schemas.microsoft.com/office/drawing/2014/main" id="{3B76A810-DFDD-89AE-7031-990B3C5ECE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766" y="203444"/>
            <a:ext cx="1635164" cy="941835"/>
          </a:xfrm>
          <a:prstGeom prst="rect">
            <a:avLst/>
          </a:prstGeom>
        </p:spPr>
      </p:pic>
    </p:spTree>
    <p:extLst>
      <p:ext uri="{BB962C8B-B14F-4D97-AF65-F5344CB8AC3E}">
        <p14:creationId xmlns:p14="http://schemas.microsoft.com/office/powerpoint/2010/main" val="26069706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1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8" name="Rectangle 27">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10" name="Picture 9">
            <a:extLst>
              <a:ext uri="{FF2B5EF4-FFF2-40B4-BE49-F238E27FC236}">
                <a16:creationId xmlns:a16="http://schemas.microsoft.com/office/drawing/2014/main" id="{CD636A02-1D65-7413-7D7F-9680565C5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970" y="895610"/>
            <a:ext cx="5058020" cy="5058020"/>
          </a:xfrm>
          <a:prstGeom prst="rect">
            <a:avLst/>
          </a:prstGeom>
        </p:spPr>
      </p:pic>
      <p:sp>
        <p:nvSpPr>
          <p:cNvPr id="3" name="TextBox 2">
            <a:extLst>
              <a:ext uri="{FF2B5EF4-FFF2-40B4-BE49-F238E27FC236}">
                <a16:creationId xmlns:a16="http://schemas.microsoft.com/office/drawing/2014/main" id="{9DF6DD9D-DD8A-8465-0F8F-6D08A7F327FE}"/>
              </a:ext>
            </a:extLst>
          </p:cNvPr>
          <p:cNvSpPr txBox="1"/>
          <p:nvPr/>
        </p:nvSpPr>
        <p:spPr>
          <a:xfrm>
            <a:off x="6096000" y="1061884"/>
            <a:ext cx="5478296" cy="4498258"/>
          </a:xfrm>
          <a:prstGeom prst="rect">
            <a:avLst/>
          </a:prstGeom>
        </p:spPr>
        <p:txBody>
          <a:bodyPr vert="horz" lIns="91440" tIns="45720" rIns="91440" bIns="45720" rtlCol="0">
            <a:normAutofit fontScale="92500" lnSpcReduction="20000"/>
          </a:bodyPr>
          <a:lstStyle/>
          <a:p>
            <a:pPr>
              <a:lnSpc>
                <a:spcPct val="90000"/>
              </a:lnSpc>
              <a:spcAft>
                <a:spcPts val="600"/>
              </a:spcAft>
            </a:pPr>
            <a:r>
              <a:rPr lang="en-US" sz="6000" dirty="0">
                <a:latin typeface="Berlin Sans FB" panose="020E0602020502020306" pitchFamily="34" charset="0"/>
              </a:rPr>
              <a:t>INDUSTRIES WE SERVE</a:t>
            </a:r>
          </a:p>
          <a:p>
            <a:pPr indent="-228600">
              <a:lnSpc>
                <a:spcPct val="90000"/>
              </a:lnSpc>
              <a:spcAft>
                <a:spcPts val="600"/>
              </a:spcAft>
              <a:buFont typeface="Arial" panose="020B0604020202020204" pitchFamily="34" charset="0"/>
              <a:buChar char="•"/>
            </a:pPr>
            <a:endParaRPr lang="en-US" sz="1400" dirty="0"/>
          </a:p>
          <a:p>
            <a:pPr marL="342900" indent="-228600">
              <a:lnSpc>
                <a:spcPct val="90000"/>
              </a:lnSpc>
              <a:spcAft>
                <a:spcPts val="600"/>
              </a:spcAft>
              <a:buFont typeface="Arial" panose="020B0604020202020204" pitchFamily="34" charset="0"/>
              <a:buChar char="•"/>
            </a:pPr>
            <a:r>
              <a:rPr lang="en-US" sz="2200" dirty="0"/>
              <a:t>Telecom </a:t>
            </a:r>
          </a:p>
          <a:p>
            <a:pPr marL="342900" indent="-228600">
              <a:lnSpc>
                <a:spcPct val="90000"/>
              </a:lnSpc>
              <a:spcAft>
                <a:spcPts val="600"/>
              </a:spcAft>
              <a:buFont typeface="Arial" panose="020B0604020202020204" pitchFamily="34" charset="0"/>
              <a:buChar char="•"/>
            </a:pPr>
            <a:r>
              <a:rPr lang="en-US" sz="2200" dirty="0"/>
              <a:t>Real Estate &amp; Co-living</a:t>
            </a:r>
          </a:p>
          <a:p>
            <a:pPr marL="342900" indent="-228600">
              <a:lnSpc>
                <a:spcPct val="90000"/>
              </a:lnSpc>
              <a:spcAft>
                <a:spcPts val="600"/>
              </a:spcAft>
              <a:buFont typeface="Arial" panose="020B0604020202020204" pitchFamily="34" charset="0"/>
              <a:buChar char="•"/>
            </a:pPr>
            <a:r>
              <a:rPr lang="en-US" sz="2200" dirty="0"/>
              <a:t>Banking &amp; Financial Services Sector</a:t>
            </a:r>
          </a:p>
          <a:p>
            <a:pPr marL="342900" indent="-228600">
              <a:lnSpc>
                <a:spcPct val="90000"/>
              </a:lnSpc>
              <a:spcAft>
                <a:spcPts val="600"/>
              </a:spcAft>
              <a:buFont typeface="Arial" panose="020B0604020202020204" pitchFamily="34" charset="0"/>
              <a:buChar char="•"/>
            </a:pPr>
            <a:r>
              <a:rPr lang="en-US" sz="2200" dirty="0"/>
              <a:t>Hospitality &amp; Facility Management</a:t>
            </a:r>
          </a:p>
          <a:p>
            <a:pPr marL="342900" indent="-228600">
              <a:lnSpc>
                <a:spcPct val="90000"/>
              </a:lnSpc>
              <a:spcAft>
                <a:spcPts val="600"/>
              </a:spcAft>
              <a:buFont typeface="Arial" panose="020B0604020202020204" pitchFamily="34" charset="0"/>
              <a:buChar char="•"/>
            </a:pPr>
            <a:r>
              <a:rPr lang="en-US" sz="2200" dirty="0"/>
              <a:t>Retail &amp; E-commerce</a:t>
            </a:r>
          </a:p>
          <a:p>
            <a:pPr marL="342900" indent="-228600">
              <a:lnSpc>
                <a:spcPct val="90000"/>
              </a:lnSpc>
              <a:spcAft>
                <a:spcPts val="600"/>
              </a:spcAft>
              <a:buFont typeface="Arial" panose="020B0604020202020204" pitchFamily="34" charset="0"/>
              <a:buChar char="•"/>
            </a:pPr>
            <a:r>
              <a:rPr lang="en-US" sz="2200" dirty="0"/>
              <a:t>IT &amp; Technology</a:t>
            </a:r>
          </a:p>
          <a:p>
            <a:pPr marL="342900" indent="-228600">
              <a:lnSpc>
                <a:spcPct val="90000"/>
              </a:lnSpc>
              <a:spcAft>
                <a:spcPts val="600"/>
              </a:spcAft>
              <a:buFont typeface="Arial" panose="020B0604020202020204" pitchFamily="34" charset="0"/>
              <a:buChar char="•"/>
            </a:pPr>
            <a:r>
              <a:rPr lang="en-US" sz="2200" dirty="0"/>
              <a:t>Startups &amp; MSMEs</a:t>
            </a:r>
          </a:p>
          <a:p>
            <a:pPr marL="342900" indent="-228600">
              <a:lnSpc>
                <a:spcPct val="90000"/>
              </a:lnSpc>
              <a:spcAft>
                <a:spcPts val="600"/>
              </a:spcAft>
              <a:buFont typeface="Arial" panose="020B0604020202020204" pitchFamily="34" charset="0"/>
              <a:buChar char="•"/>
            </a:pPr>
            <a:r>
              <a:rPr lang="en-US" sz="2200" dirty="0"/>
              <a:t>Education &amp; Training</a:t>
            </a:r>
          </a:p>
          <a:p>
            <a:pPr marL="342900" indent="-228600">
              <a:lnSpc>
                <a:spcPct val="90000"/>
              </a:lnSpc>
              <a:spcAft>
                <a:spcPts val="600"/>
              </a:spcAft>
              <a:buFont typeface="Arial" panose="020B0604020202020204" pitchFamily="34" charset="0"/>
              <a:buChar char="•"/>
            </a:pPr>
            <a:r>
              <a:rPr lang="en-US" sz="2200" dirty="0"/>
              <a:t>Events &amp; Entertainment</a:t>
            </a:r>
          </a:p>
        </p:txBody>
      </p:sp>
      <p:pic>
        <p:nvPicPr>
          <p:cNvPr id="11" name="Picture 10">
            <a:extLst>
              <a:ext uri="{FF2B5EF4-FFF2-40B4-BE49-F238E27FC236}">
                <a16:creationId xmlns:a16="http://schemas.microsoft.com/office/drawing/2014/main" id="{2711D297-555A-8CF0-50D2-BA82FBD87A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283" y="121436"/>
            <a:ext cx="1635164" cy="941835"/>
          </a:xfrm>
          <a:prstGeom prst="rect">
            <a:avLst/>
          </a:prstGeom>
        </p:spPr>
      </p:pic>
    </p:spTree>
    <p:extLst>
      <p:ext uri="{BB962C8B-B14F-4D97-AF65-F5344CB8AC3E}">
        <p14:creationId xmlns:p14="http://schemas.microsoft.com/office/powerpoint/2010/main" val="18645655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a:extLst>
              <a:ext uri="{FF2B5EF4-FFF2-40B4-BE49-F238E27FC236}">
                <a16:creationId xmlns:a16="http://schemas.microsoft.com/office/drawing/2014/main" id="{30A9015A-475D-6CEF-8586-438DAF16BFAD}"/>
              </a:ext>
            </a:extLst>
          </p:cNvPr>
          <p:cNvPicPr>
            <a:picLocks noChangeAspect="1"/>
          </p:cNvPicPr>
          <p:nvPr/>
        </p:nvPicPr>
        <p:blipFill>
          <a:blip r:embed="rId2">
            <a:extLst>
              <a:ext uri="{28A0092B-C50C-407E-A947-70E740481C1C}">
                <a14:useLocalDpi xmlns:a14="http://schemas.microsoft.com/office/drawing/2010/main" val="0"/>
              </a:ext>
            </a:extLst>
          </a:blip>
          <a:srcRect l="21805" r="12593"/>
          <a:stretch>
            <a:fillRect/>
          </a:stretch>
        </p:blipFill>
        <p:spPr>
          <a:xfrm>
            <a:off x="-20748" y="0"/>
            <a:ext cx="7998205" cy="6858000"/>
          </a:xfrm>
          <a:prstGeom prst="rect">
            <a:avLst/>
          </a:prstGeom>
        </p:spPr>
      </p:pic>
      <p:pic>
        <p:nvPicPr>
          <p:cNvPr id="12" name="Picture 11" descr="Black Theme Pictures | Download Free Images on Unsplash">
            <a:extLst>
              <a:ext uri="{FF2B5EF4-FFF2-40B4-BE49-F238E27FC236}">
                <a16:creationId xmlns:a16="http://schemas.microsoft.com/office/drawing/2014/main" id="{B31CFCD7-64CE-AC2B-1A2B-269C1DDA1CF1}"/>
              </a:ext>
            </a:extLst>
          </p:cNvPr>
          <p:cNvPicPr>
            <a:picLocks noChangeAspect="1"/>
          </p:cNvPicPr>
          <p:nvPr/>
        </p:nvPicPr>
        <p:blipFill>
          <a:blip r:embed="rId3"/>
          <a:srcRect l="1769" r="21792"/>
          <a:stretch>
            <a:fillRect/>
          </a:stretch>
        </p:blipFill>
        <p:spPr>
          <a:xfrm>
            <a:off x="8017468" y="6387"/>
            <a:ext cx="4193775" cy="6857999"/>
          </a:xfrm>
          <a:prstGeom prst="rect">
            <a:avLst/>
          </a:prstGeom>
        </p:spPr>
      </p:pic>
      <p:sp>
        <p:nvSpPr>
          <p:cNvPr id="15" name="TextBox 14">
            <a:extLst>
              <a:ext uri="{FF2B5EF4-FFF2-40B4-BE49-F238E27FC236}">
                <a16:creationId xmlns:a16="http://schemas.microsoft.com/office/drawing/2014/main" id="{70E86E0C-4F15-A095-D045-FE047CAABFFB}"/>
              </a:ext>
            </a:extLst>
          </p:cNvPr>
          <p:cNvSpPr txBox="1"/>
          <p:nvPr/>
        </p:nvSpPr>
        <p:spPr>
          <a:xfrm>
            <a:off x="2106509" y="53169"/>
            <a:ext cx="7977457" cy="1559594"/>
          </a:xfrm>
          <a:prstGeom prst="rect">
            <a:avLst/>
          </a:prstGeom>
          <a:noFill/>
        </p:spPr>
        <p:txBody>
          <a:bodyPr wrap="square">
            <a:spAutoFit/>
          </a:bodyPr>
          <a:lstStyle/>
          <a:p>
            <a:pPr marL="0" marR="0" algn="ctr">
              <a:lnSpc>
                <a:spcPct val="115000"/>
              </a:lnSpc>
              <a:spcAft>
                <a:spcPts val="800"/>
              </a:spcAft>
              <a:buNone/>
            </a:pPr>
            <a:r>
              <a:rPr lang="en-US" sz="6000" b="1" kern="100" dirty="0">
                <a:effectLst/>
                <a:latin typeface="Berlin Sans FB" panose="020E0602020502020306" pitchFamily="34" charset="0"/>
                <a:ea typeface="Aptos" panose="020B0004020202020204" pitchFamily="34" charset="0"/>
                <a:cs typeface="Times New Roman" panose="02020603050405020304" pitchFamily="18" charset="0"/>
              </a:rPr>
              <a:t>SERVICE PORTFOLIO</a:t>
            </a:r>
          </a:p>
          <a:p>
            <a:pPr marL="0" marR="0" algn="ctr">
              <a:lnSpc>
                <a:spcPct val="115000"/>
              </a:lnSpc>
              <a:spcAft>
                <a:spcPts val="800"/>
              </a:spcAft>
              <a:buNone/>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4" name="Picture 23">
            <a:extLst>
              <a:ext uri="{FF2B5EF4-FFF2-40B4-BE49-F238E27FC236}">
                <a16:creationId xmlns:a16="http://schemas.microsoft.com/office/drawing/2014/main" id="{8CBB9777-7C8F-0B37-A43E-85F0329C5E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435" y="239742"/>
            <a:ext cx="1635164" cy="941835"/>
          </a:xfrm>
          <a:prstGeom prst="rect">
            <a:avLst/>
          </a:prstGeom>
        </p:spPr>
      </p:pic>
      <p:sp>
        <p:nvSpPr>
          <p:cNvPr id="26" name="TextBox 25">
            <a:extLst>
              <a:ext uri="{FF2B5EF4-FFF2-40B4-BE49-F238E27FC236}">
                <a16:creationId xmlns:a16="http://schemas.microsoft.com/office/drawing/2014/main" id="{A32C3BCB-042B-16EB-14A3-8F36331C2C13}"/>
              </a:ext>
            </a:extLst>
          </p:cNvPr>
          <p:cNvSpPr txBox="1"/>
          <p:nvPr/>
        </p:nvSpPr>
        <p:spPr>
          <a:xfrm>
            <a:off x="8200224" y="3252375"/>
            <a:ext cx="4193775" cy="1015663"/>
          </a:xfrm>
          <a:prstGeom prst="rect">
            <a:avLst/>
          </a:prstGeom>
          <a:noFill/>
        </p:spPr>
        <p:txBody>
          <a:bodyPr wrap="square">
            <a:spAutoFit/>
          </a:bodyPr>
          <a:lstStyle/>
          <a:p>
            <a:r>
              <a:rPr lang="en-US" sz="2000" b="1" dirty="0">
                <a:latin typeface="Agency FB" panose="020B0503020202020204" pitchFamily="34" charset="0"/>
              </a:rPr>
              <a:t>"Stop chasing money and start chasing the passion.“</a:t>
            </a:r>
          </a:p>
          <a:p>
            <a:r>
              <a:rPr lang="en-US" sz="2000" b="1" dirty="0">
                <a:latin typeface="Agency FB" panose="020B0503020202020204" pitchFamily="34" charset="0"/>
              </a:rPr>
              <a:t>  - Tony Hsieh </a:t>
            </a:r>
          </a:p>
        </p:txBody>
      </p:sp>
      <p:sp>
        <p:nvSpPr>
          <p:cNvPr id="28" name="Rectangle 27">
            <a:extLst>
              <a:ext uri="{FF2B5EF4-FFF2-40B4-BE49-F238E27FC236}">
                <a16:creationId xmlns:a16="http://schemas.microsoft.com/office/drawing/2014/main" id="{16148261-CADB-3614-EA37-1ECC08479DED}"/>
              </a:ext>
              <a:ext uri="{C183D7F6-B498-43B3-948B-1728B52AA6E4}">
                <adec:decorative xmlns:adec="http://schemas.microsoft.com/office/drawing/2017/decorative" val="1"/>
              </a:ext>
            </a:extLst>
          </p:cNvPr>
          <p:cNvSpPr/>
          <p:nvPr/>
        </p:nvSpPr>
        <p:spPr>
          <a:xfrm>
            <a:off x="7977457" y="2761861"/>
            <a:ext cx="4213019" cy="4042970"/>
          </a:xfrm>
          <a:prstGeom prst="rect">
            <a:avLst/>
          </a:prstGeom>
          <a:solidFill>
            <a:schemeClr val="tx1">
              <a:lumMod val="65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7597ACD6-1581-9E29-A8DC-820669DDC820}"/>
              </a:ext>
            </a:extLst>
          </p:cNvPr>
          <p:cNvSpPr txBox="1"/>
          <p:nvPr/>
        </p:nvSpPr>
        <p:spPr>
          <a:xfrm>
            <a:off x="462674" y="1285244"/>
            <a:ext cx="7554794" cy="5632311"/>
          </a:xfrm>
          <a:prstGeom prst="rect">
            <a:avLst/>
          </a:prstGeom>
          <a:noFill/>
        </p:spPr>
        <p:txBody>
          <a:bodyPr wrap="square" rtlCol="0">
            <a:spAutoFit/>
          </a:bodyPr>
          <a:lstStyle/>
          <a:p>
            <a:r>
              <a:rPr lang="en-US" sz="2400" b="1" dirty="0"/>
              <a:t>Grovista Global Pvt Ltd provides a 360° suite of business services, including:</a:t>
            </a:r>
          </a:p>
          <a:p>
            <a:endParaRPr lang="en-US" sz="2400" b="1" dirty="0"/>
          </a:p>
          <a:p>
            <a:pPr marL="457200" indent="-457200">
              <a:buAutoNum type="alphaUcPeriod"/>
            </a:pPr>
            <a:r>
              <a:rPr lang="en-US" sz="2400" b="1" dirty="0"/>
              <a:t>Consulting &amp; Business Services</a:t>
            </a:r>
          </a:p>
          <a:p>
            <a:pPr marL="342900" indent="-342900">
              <a:buFont typeface="Arial" panose="020B0604020202020204" pitchFamily="34" charset="0"/>
              <a:buChar char="•"/>
            </a:pPr>
            <a:r>
              <a:rPr lang="en-US" sz="2400" dirty="0"/>
              <a:t>Business Consulting &amp; Process Transformation</a:t>
            </a:r>
          </a:p>
          <a:p>
            <a:pPr marL="342900" indent="-342900">
              <a:buFont typeface="Arial" panose="020B0604020202020204" pitchFamily="34" charset="0"/>
              <a:buChar char="•"/>
            </a:pPr>
            <a:r>
              <a:rPr lang="en-US" sz="2400" dirty="0"/>
              <a:t>P&amp;L Management &amp; Profitability Strategy</a:t>
            </a:r>
          </a:p>
          <a:p>
            <a:pPr marL="342900" indent="-342900">
              <a:buFont typeface="Arial" panose="020B0604020202020204" pitchFamily="34" charset="0"/>
              <a:buChar char="•"/>
            </a:pPr>
            <a:r>
              <a:rPr lang="en-US" sz="2400" dirty="0"/>
              <a:t>Market Expansion &amp; Business Growth Strategy</a:t>
            </a:r>
          </a:p>
          <a:p>
            <a:pPr marL="342900" indent="-342900">
              <a:buFont typeface="Arial" panose="020B0604020202020204" pitchFamily="34" charset="0"/>
              <a:buChar char="•"/>
            </a:pPr>
            <a:r>
              <a:rPr lang="en-US" sz="2400" dirty="0"/>
              <a:t>Operational Audits &amp; Efficiency Improvement</a:t>
            </a:r>
          </a:p>
          <a:p>
            <a:pPr marL="342900" indent="-342900">
              <a:buFont typeface="Arial" panose="020B0604020202020204" pitchFamily="34" charset="0"/>
              <a:buChar char="•"/>
            </a:pPr>
            <a:endParaRPr lang="en-US" sz="2400" b="1" dirty="0"/>
          </a:p>
          <a:p>
            <a:r>
              <a:rPr lang="en-US" sz="2400" b="1" dirty="0"/>
              <a:t>B. BPO &amp; Outsourcing Services</a:t>
            </a:r>
          </a:p>
          <a:p>
            <a:pPr marL="342900" indent="-342900">
              <a:buFont typeface="Arial" panose="020B0604020202020204" pitchFamily="34" charset="0"/>
              <a:buChar char="•"/>
            </a:pPr>
            <a:r>
              <a:rPr lang="en-US" sz="2400" dirty="0"/>
              <a:t>Inbound &amp; Outbound Call Center Support</a:t>
            </a:r>
          </a:p>
          <a:p>
            <a:pPr marL="342900" indent="-342900">
              <a:buFont typeface="Arial" panose="020B0604020202020204" pitchFamily="34" charset="0"/>
              <a:buChar char="•"/>
            </a:pPr>
            <a:r>
              <a:rPr lang="en-US" sz="2400" dirty="0"/>
              <a:t>Sales, Telemarketing &amp; Lead Generation</a:t>
            </a:r>
          </a:p>
          <a:p>
            <a:pPr marL="342900" indent="-342900">
              <a:buFont typeface="Arial" panose="020B0604020202020204" pitchFamily="34" charset="0"/>
              <a:buChar char="•"/>
            </a:pPr>
            <a:r>
              <a:rPr lang="en-US" sz="2400" dirty="0"/>
              <a:t>Customer Care &amp; Retention Programs</a:t>
            </a:r>
          </a:p>
          <a:p>
            <a:pPr marL="342900" indent="-342900">
              <a:buFont typeface="Arial" panose="020B0604020202020204" pitchFamily="34" charset="0"/>
              <a:buChar char="•"/>
            </a:pPr>
            <a:r>
              <a:rPr lang="en-US" sz="2400" dirty="0"/>
              <a:t>Collections &amp; Recovery Support</a:t>
            </a:r>
          </a:p>
          <a:p>
            <a:pPr marL="342900" indent="-342900">
              <a:buFont typeface="Arial" panose="020B0604020202020204" pitchFamily="34" charset="0"/>
              <a:buChar char="•"/>
            </a:pPr>
            <a:r>
              <a:rPr lang="en-US" sz="2400" dirty="0"/>
              <a:t>Back-office &amp; Data Management Services</a:t>
            </a:r>
          </a:p>
        </p:txBody>
      </p:sp>
    </p:spTree>
    <p:extLst>
      <p:ext uri="{BB962C8B-B14F-4D97-AF65-F5344CB8AC3E}">
        <p14:creationId xmlns:p14="http://schemas.microsoft.com/office/powerpoint/2010/main" val="27389912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down)">
                                      <p:cBhvr>
                                        <p:cTn id="7" dur="1000"/>
                                        <p:tgtEl>
                                          <p:spTgt spid="15">
                                            <p:txEl>
                                              <p:pRg st="0" end="0"/>
                                            </p:txEl>
                                          </p:spTgt>
                                        </p:tgtEl>
                                      </p:cBhvr>
                                    </p:animEffect>
                                  </p:childTnLst>
                                </p:cTn>
                              </p:par>
                            </p:childTnLst>
                          </p:cTn>
                        </p:par>
                        <p:par>
                          <p:cTn id="8" fill="hold">
                            <p:stCondLst>
                              <p:cond delay="1000"/>
                            </p:stCondLst>
                            <p:childTnLst>
                              <p:par>
                                <p:cTn id="9" presetID="16" presetClass="entr" presetSubtype="21" fill="hold" nodeType="afterEffect">
                                  <p:stCondLst>
                                    <p:cond delay="0"/>
                                  </p:stCondLst>
                                  <p:childTnLst>
                                    <p:set>
                                      <p:cBhvr>
                                        <p:cTn id="10" dur="1" fill="hold">
                                          <p:stCondLst>
                                            <p:cond delay="0"/>
                                          </p:stCondLst>
                                        </p:cTn>
                                        <p:tgtEl>
                                          <p:spTgt spid="31">
                                            <p:txEl>
                                              <p:pRg st="2" end="2"/>
                                            </p:txEl>
                                          </p:spTgt>
                                        </p:tgtEl>
                                        <p:attrNameLst>
                                          <p:attrName>style.visibility</p:attrName>
                                        </p:attrNameLst>
                                      </p:cBhvr>
                                      <p:to>
                                        <p:strVal val="visible"/>
                                      </p:to>
                                    </p:set>
                                    <p:animEffect transition="in" filter="barn(inVertical)">
                                      <p:cBhvr>
                                        <p:cTn id="11" dur="500"/>
                                        <p:tgtEl>
                                          <p:spTgt spid="31">
                                            <p:txEl>
                                              <p:pRg st="2" end="2"/>
                                            </p:txEl>
                                          </p:spTgt>
                                        </p:tgtEl>
                                      </p:cBhvr>
                                    </p:animEffect>
                                  </p:childTnLst>
                                </p:cTn>
                              </p:par>
                            </p:childTnLst>
                          </p:cTn>
                        </p:par>
                        <p:par>
                          <p:cTn id="12" fill="hold">
                            <p:stCondLst>
                              <p:cond delay="1500"/>
                            </p:stCondLst>
                            <p:childTnLst>
                              <p:par>
                                <p:cTn id="13" presetID="16" presetClass="entr" presetSubtype="21" fill="hold" nodeType="afterEffect">
                                  <p:stCondLst>
                                    <p:cond delay="0"/>
                                  </p:stCondLst>
                                  <p:childTnLst>
                                    <p:set>
                                      <p:cBhvr>
                                        <p:cTn id="14" dur="1" fill="hold">
                                          <p:stCondLst>
                                            <p:cond delay="0"/>
                                          </p:stCondLst>
                                        </p:cTn>
                                        <p:tgtEl>
                                          <p:spTgt spid="31">
                                            <p:txEl>
                                              <p:pRg st="3" end="3"/>
                                            </p:txEl>
                                          </p:spTgt>
                                        </p:tgtEl>
                                        <p:attrNameLst>
                                          <p:attrName>style.visibility</p:attrName>
                                        </p:attrNameLst>
                                      </p:cBhvr>
                                      <p:to>
                                        <p:strVal val="visible"/>
                                      </p:to>
                                    </p:set>
                                    <p:animEffect transition="in" filter="barn(inVertical)">
                                      <p:cBhvr>
                                        <p:cTn id="15" dur="500"/>
                                        <p:tgtEl>
                                          <p:spTgt spid="31">
                                            <p:txEl>
                                              <p:pRg st="3" end="3"/>
                                            </p:txEl>
                                          </p:spTgt>
                                        </p:tgtEl>
                                      </p:cBhvr>
                                    </p:animEffect>
                                  </p:childTnLst>
                                </p:cTn>
                              </p:par>
                            </p:childTnLst>
                          </p:cTn>
                        </p:par>
                        <p:par>
                          <p:cTn id="16" fill="hold">
                            <p:stCondLst>
                              <p:cond delay="2000"/>
                            </p:stCondLst>
                            <p:childTnLst>
                              <p:par>
                                <p:cTn id="17" presetID="16" presetClass="entr" presetSubtype="21" fill="hold" nodeType="after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animEffect transition="in" filter="barn(inVertical)">
                                      <p:cBhvr>
                                        <p:cTn id="19" dur="500"/>
                                        <p:tgtEl>
                                          <p:spTgt spid="31">
                                            <p:txEl>
                                              <p:pRg st="4" end="4"/>
                                            </p:txEl>
                                          </p:spTgt>
                                        </p:tgtEl>
                                      </p:cBhvr>
                                    </p:animEffect>
                                  </p:childTnLst>
                                </p:cTn>
                              </p:par>
                            </p:childTnLst>
                          </p:cTn>
                        </p:par>
                        <p:par>
                          <p:cTn id="20" fill="hold">
                            <p:stCondLst>
                              <p:cond delay="2500"/>
                            </p:stCondLst>
                            <p:childTnLst>
                              <p:par>
                                <p:cTn id="21" presetID="16" presetClass="entr" presetSubtype="21" fill="hold" nodeType="afterEffect">
                                  <p:stCondLst>
                                    <p:cond delay="0"/>
                                  </p:stCondLst>
                                  <p:childTnLst>
                                    <p:set>
                                      <p:cBhvr>
                                        <p:cTn id="22" dur="1" fill="hold">
                                          <p:stCondLst>
                                            <p:cond delay="0"/>
                                          </p:stCondLst>
                                        </p:cTn>
                                        <p:tgtEl>
                                          <p:spTgt spid="31">
                                            <p:txEl>
                                              <p:pRg st="5" end="5"/>
                                            </p:txEl>
                                          </p:spTgt>
                                        </p:tgtEl>
                                        <p:attrNameLst>
                                          <p:attrName>style.visibility</p:attrName>
                                        </p:attrNameLst>
                                      </p:cBhvr>
                                      <p:to>
                                        <p:strVal val="visible"/>
                                      </p:to>
                                    </p:set>
                                    <p:animEffect transition="in" filter="barn(inVertical)">
                                      <p:cBhvr>
                                        <p:cTn id="23" dur="500"/>
                                        <p:tgtEl>
                                          <p:spTgt spid="31">
                                            <p:txEl>
                                              <p:pRg st="5" end="5"/>
                                            </p:txEl>
                                          </p:spTgt>
                                        </p:tgtEl>
                                      </p:cBhvr>
                                    </p:animEffect>
                                  </p:childTnLst>
                                </p:cTn>
                              </p:par>
                            </p:childTnLst>
                          </p:cTn>
                        </p:par>
                        <p:par>
                          <p:cTn id="24" fill="hold">
                            <p:stCondLst>
                              <p:cond delay="3000"/>
                            </p:stCondLst>
                            <p:childTnLst>
                              <p:par>
                                <p:cTn id="25" presetID="16" presetClass="entr" presetSubtype="21" fill="hold" nodeType="afterEffect">
                                  <p:stCondLst>
                                    <p:cond delay="0"/>
                                  </p:stCondLst>
                                  <p:childTnLst>
                                    <p:set>
                                      <p:cBhvr>
                                        <p:cTn id="26" dur="1" fill="hold">
                                          <p:stCondLst>
                                            <p:cond delay="0"/>
                                          </p:stCondLst>
                                        </p:cTn>
                                        <p:tgtEl>
                                          <p:spTgt spid="31">
                                            <p:txEl>
                                              <p:pRg st="6" end="6"/>
                                            </p:txEl>
                                          </p:spTgt>
                                        </p:tgtEl>
                                        <p:attrNameLst>
                                          <p:attrName>style.visibility</p:attrName>
                                        </p:attrNameLst>
                                      </p:cBhvr>
                                      <p:to>
                                        <p:strVal val="visible"/>
                                      </p:to>
                                    </p:set>
                                    <p:animEffect transition="in" filter="barn(inVertical)">
                                      <p:cBhvr>
                                        <p:cTn id="27" dur="500"/>
                                        <p:tgtEl>
                                          <p:spTgt spid="31">
                                            <p:txEl>
                                              <p:pRg st="6" end="6"/>
                                            </p:txEl>
                                          </p:spTgt>
                                        </p:tgtEl>
                                      </p:cBhvr>
                                    </p:animEffect>
                                  </p:childTnLst>
                                </p:cTn>
                              </p:par>
                            </p:childTnLst>
                          </p:cTn>
                        </p:par>
                        <p:par>
                          <p:cTn id="28" fill="hold">
                            <p:stCondLst>
                              <p:cond delay="3500"/>
                            </p:stCondLst>
                            <p:childTnLst>
                              <p:par>
                                <p:cTn id="29" presetID="16" presetClass="entr" presetSubtype="21" fill="hold" nodeType="afterEffect">
                                  <p:stCondLst>
                                    <p:cond delay="0"/>
                                  </p:stCondLst>
                                  <p:childTnLst>
                                    <p:set>
                                      <p:cBhvr>
                                        <p:cTn id="30" dur="1" fill="hold">
                                          <p:stCondLst>
                                            <p:cond delay="0"/>
                                          </p:stCondLst>
                                        </p:cTn>
                                        <p:tgtEl>
                                          <p:spTgt spid="31">
                                            <p:txEl>
                                              <p:pRg st="8" end="8"/>
                                            </p:txEl>
                                          </p:spTgt>
                                        </p:tgtEl>
                                        <p:attrNameLst>
                                          <p:attrName>style.visibility</p:attrName>
                                        </p:attrNameLst>
                                      </p:cBhvr>
                                      <p:to>
                                        <p:strVal val="visible"/>
                                      </p:to>
                                    </p:set>
                                    <p:animEffect transition="in" filter="barn(inVertical)">
                                      <p:cBhvr>
                                        <p:cTn id="31" dur="500"/>
                                        <p:tgtEl>
                                          <p:spTgt spid="31">
                                            <p:txEl>
                                              <p:pRg st="8" end="8"/>
                                            </p:txEl>
                                          </p:spTgt>
                                        </p:tgtEl>
                                      </p:cBhvr>
                                    </p:animEffect>
                                  </p:childTnLst>
                                </p:cTn>
                              </p:par>
                            </p:childTnLst>
                          </p:cTn>
                        </p:par>
                        <p:par>
                          <p:cTn id="32" fill="hold">
                            <p:stCondLst>
                              <p:cond delay="4000"/>
                            </p:stCondLst>
                            <p:childTnLst>
                              <p:par>
                                <p:cTn id="33" presetID="16" presetClass="entr" presetSubtype="21" fill="hold" nodeType="afterEffect">
                                  <p:stCondLst>
                                    <p:cond delay="0"/>
                                  </p:stCondLst>
                                  <p:childTnLst>
                                    <p:set>
                                      <p:cBhvr>
                                        <p:cTn id="34" dur="1" fill="hold">
                                          <p:stCondLst>
                                            <p:cond delay="0"/>
                                          </p:stCondLst>
                                        </p:cTn>
                                        <p:tgtEl>
                                          <p:spTgt spid="31">
                                            <p:txEl>
                                              <p:pRg st="9" end="9"/>
                                            </p:txEl>
                                          </p:spTgt>
                                        </p:tgtEl>
                                        <p:attrNameLst>
                                          <p:attrName>style.visibility</p:attrName>
                                        </p:attrNameLst>
                                      </p:cBhvr>
                                      <p:to>
                                        <p:strVal val="visible"/>
                                      </p:to>
                                    </p:set>
                                    <p:animEffect transition="in" filter="barn(inVertical)">
                                      <p:cBhvr>
                                        <p:cTn id="35" dur="500"/>
                                        <p:tgtEl>
                                          <p:spTgt spid="31">
                                            <p:txEl>
                                              <p:pRg st="9" end="9"/>
                                            </p:txEl>
                                          </p:spTgt>
                                        </p:tgtEl>
                                      </p:cBhvr>
                                    </p:animEffect>
                                  </p:childTnLst>
                                </p:cTn>
                              </p:par>
                            </p:childTnLst>
                          </p:cTn>
                        </p:par>
                        <p:par>
                          <p:cTn id="36" fill="hold">
                            <p:stCondLst>
                              <p:cond delay="4500"/>
                            </p:stCondLst>
                            <p:childTnLst>
                              <p:par>
                                <p:cTn id="37" presetID="16" presetClass="entr" presetSubtype="21" fill="hold" nodeType="afterEffect">
                                  <p:stCondLst>
                                    <p:cond delay="0"/>
                                  </p:stCondLst>
                                  <p:childTnLst>
                                    <p:set>
                                      <p:cBhvr>
                                        <p:cTn id="38" dur="1" fill="hold">
                                          <p:stCondLst>
                                            <p:cond delay="0"/>
                                          </p:stCondLst>
                                        </p:cTn>
                                        <p:tgtEl>
                                          <p:spTgt spid="31">
                                            <p:txEl>
                                              <p:pRg st="10" end="10"/>
                                            </p:txEl>
                                          </p:spTgt>
                                        </p:tgtEl>
                                        <p:attrNameLst>
                                          <p:attrName>style.visibility</p:attrName>
                                        </p:attrNameLst>
                                      </p:cBhvr>
                                      <p:to>
                                        <p:strVal val="visible"/>
                                      </p:to>
                                    </p:set>
                                    <p:animEffect transition="in" filter="barn(inVertical)">
                                      <p:cBhvr>
                                        <p:cTn id="39" dur="500"/>
                                        <p:tgtEl>
                                          <p:spTgt spid="31">
                                            <p:txEl>
                                              <p:pRg st="10" end="10"/>
                                            </p:txEl>
                                          </p:spTgt>
                                        </p:tgtEl>
                                      </p:cBhvr>
                                    </p:animEffect>
                                  </p:childTnLst>
                                </p:cTn>
                              </p:par>
                            </p:childTnLst>
                          </p:cTn>
                        </p:par>
                        <p:par>
                          <p:cTn id="40" fill="hold">
                            <p:stCondLst>
                              <p:cond delay="5000"/>
                            </p:stCondLst>
                            <p:childTnLst>
                              <p:par>
                                <p:cTn id="41" presetID="16" presetClass="entr" presetSubtype="21" fill="hold" nodeType="afterEffect">
                                  <p:stCondLst>
                                    <p:cond delay="0"/>
                                  </p:stCondLst>
                                  <p:childTnLst>
                                    <p:set>
                                      <p:cBhvr>
                                        <p:cTn id="42" dur="1" fill="hold">
                                          <p:stCondLst>
                                            <p:cond delay="0"/>
                                          </p:stCondLst>
                                        </p:cTn>
                                        <p:tgtEl>
                                          <p:spTgt spid="31">
                                            <p:txEl>
                                              <p:pRg st="11" end="11"/>
                                            </p:txEl>
                                          </p:spTgt>
                                        </p:tgtEl>
                                        <p:attrNameLst>
                                          <p:attrName>style.visibility</p:attrName>
                                        </p:attrNameLst>
                                      </p:cBhvr>
                                      <p:to>
                                        <p:strVal val="visible"/>
                                      </p:to>
                                    </p:set>
                                    <p:animEffect transition="in" filter="barn(inVertical)">
                                      <p:cBhvr>
                                        <p:cTn id="43" dur="500"/>
                                        <p:tgtEl>
                                          <p:spTgt spid="31">
                                            <p:txEl>
                                              <p:pRg st="11" end="11"/>
                                            </p:txEl>
                                          </p:spTgt>
                                        </p:tgtEl>
                                      </p:cBhvr>
                                    </p:animEffect>
                                  </p:childTnLst>
                                </p:cTn>
                              </p:par>
                            </p:childTnLst>
                          </p:cTn>
                        </p:par>
                        <p:par>
                          <p:cTn id="44" fill="hold">
                            <p:stCondLst>
                              <p:cond delay="5500"/>
                            </p:stCondLst>
                            <p:childTnLst>
                              <p:par>
                                <p:cTn id="45" presetID="16" presetClass="entr" presetSubtype="21" fill="hold" nodeType="afterEffect">
                                  <p:stCondLst>
                                    <p:cond delay="0"/>
                                  </p:stCondLst>
                                  <p:childTnLst>
                                    <p:set>
                                      <p:cBhvr>
                                        <p:cTn id="46" dur="1" fill="hold">
                                          <p:stCondLst>
                                            <p:cond delay="0"/>
                                          </p:stCondLst>
                                        </p:cTn>
                                        <p:tgtEl>
                                          <p:spTgt spid="31">
                                            <p:txEl>
                                              <p:pRg st="12" end="12"/>
                                            </p:txEl>
                                          </p:spTgt>
                                        </p:tgtEl>
                                        <p:attrNameLst>
                                          <p:attrName>style.visibility</p:attrName>
                                        </p:attrNameLst>
                                      </p:cBhvr>
                                      <p:to>
                                        <p:strVal val="visible"/>
                                      </p:to>
                                    </p:set>
                                    <p:animEffect transition="in" filter="barn(inVertical)">
                                      <p:cBhvr>
                                        <p:cTn id="47" dur="500"/>
                                        <p:tgtEl>
                                          <p:spTgt spid="31">
                                            <p:txEl>
                                              <p:pRg st="12" end="12"/>
                                            </p:txEl>
                                          </p:spTgt>
                                        </p:tgtEl>
                                      </p:cBhvr>
                                    </p:animEffect>
                                  </p:childTnLst>
                                </p:cTn>
                              </p:par>
                            </p:childTnLst>
                          </p:cTn>
                        </p:par>
                        <p:par>
                          <p:cTn id="48" fill="hold">
                            <p:stCondLst>
                              <p:cond delay="6000"/>
                            </p:stCondLst>
                            <p:childTnLst>
                              <p:par>
                                <p:cTn id="49" presetID="16" presetClass="entr" presetSubtype="21" fill="hold" nodeType="afterEffect">
                                  <p:stCondLst>
                                    <p:cond delay="0"/>
                                  </p:stCondLst>
                                  <p:childTnLst>
                                    <p:set>
                                      <p:cBhvr>
                                        <p:cTn id="50" dur="1" fill="hold">
                                          <p:stCondLst>
                                            <p:cond delay="0"/>
                                          </p:stCondLst>
                                        </p:cTn>
                                        <p:tgtEl>
                                          <p:spTgt spid="31">
                                            <p:txEl>
                                              <p:pRg st="13" end="13"/>
                                            </p:txEl>
                                          </p:spTgt>
                                        </p:tgtEl>
                                        <p:attrNameLst>
                                          <p:attrName>style.visibility</p:attrName>
                                        </p:attrNameLst>
                                      </p:cBhvr>
                                      <p:to>
                                        <p:strVal val="visible"/>
                                      </p:to>
                                    </p:set>
                                    <p:animEffect transition="in" filter="barn(inVertical)">
                                      <p:cBhvr>
                                        <p:cTn id="51" dur="500"/>
                                        <p:tgtEl>
                                          <p:spTgt spid="3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5E1056-A8C6-79CB-8AE7-D4F1EEF909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914690"/>
          </a:xfrm>
          <a:prstGeom prst="rect">
            <a:avLst/>
          </a:prstGeom>
        </p:spPr>
      </p:pic>
      <p:sp>
        <p:nvSpPr>
          <p:cNvPr id="10" name="TextBox 9">
            <a:extLst>
              <a:ext uri="{FF2B5EF4-FFF2-40B4-BE49-F238E27FC236}">
                <a16:creationId xmlns:a16="http://schemas.microsoft.com/office/drawing/2014/main" id="{5D4F91D2-C8EA-A24C-F78E-123526DF0F99}"/>
              </a:ext>
            </a:extLst>
          </p:cNvPr>
          <p:cNvSpPr txBox="1"/>
          <p:nvPr/>
        </p:nvSpPr>
        <p:spPr>
          <a:xfrm>
            <a:off x="877876" y="1030141"/>
            <a:ext cx="6042325" cy="6340197"/>
          </a:xfrm>
          <a:prstGeom prst="rect">
            <a:avLst/>
          </a:prstGeom>
          <a:noFill/>
        </p:spPr>
        <p:txBody>
          <a:bodyPr wrap="square" rtlCol="0">
            <a:spAutoFit/>
          </a:bodyPr>
          <a:lstStyle/>
          <a:p>
            <a:r>
              <a:rPr lang="en-US" sz="2800" b="1" dirty="0"/>
              <a:t>C. Human Resources &amp; Staffing</a:t>
            </a:r>
          </a:p>
          <a:p>
            <a:pPr marL="342900" indent="-342900">
              <a:buFont typeface="Arial" panose="020B0604020202020204" pitchFamily="34" charset="0"/>
              <a:buChar char="•"/>
            </a:pPr>
            <a:r>
              <a:rPr lang="en-US" sz="2800" dirty="0"/>
              <a:t>Recruitment Services</a:t>
            </a:r>
          </a:p>
          <a:p>
            <a:pPr marL="342900" indent="-342900">
              <a:buFont typeface="Arial" panose="020B0604020202020204" pitchFamily="34" charset="0"/>
              <a:buChar char="•"/>
            </a:pPr>
            <a:r>
              <a:rPr lang="en-US" sz="2800" dirty="0"/>
              <a:t>Payroll Processing</a:t>
            </a:r>
          </a:p>
          <a:p>
            <a:pPr marL="342900" indent="-342900">
              <a:buFont typeface="Arial" panose="020B0604020202020204" pitchFamily="34" charset="0"/>
              <a:buChar char="•"/>
            </a:pPr>
            <a:r>
              <a:rPr lang="en-US" sz="2800" dirty="0"/>
              <a:t>Compliance &amp; Documentation</a:t>
            </a:r>
          </a:p>
          <a:p>
            <a:pPr marL="342900" indent="-342900">
              <a:buFont typeface="Arial" panose="020B0604020202020204" pitchFamily="34" charset="0"/>
              <a:buChar char="•"/>
            </a:pPr>
            <a:r>
              <a:rPr lang="en-US" sz="2800" dirty="0"/>
              <a:t>Training &amp; Skill Development</a:t>
            </a:r>
          </a:p>
          <a:p>
            <a:pPr marL="342900" indent="-342900">
              <a:buFont typeface="Arial" panose="020B0604020202020204" pitchFamily="34" charset="0"/>
              <a:buChar char="•"/>
            </a:pPr>
            <a:r>
              <a:rPr lang="en-US" sz="2800" dirty="0"/>
              <a:t>Employee Performance Management</a:t>
            </a:r>
          </a:p>
          <a:p>
            <a:endParaRPr lang="en-US" sz="2800" b="1" dirty="0"/>
          </a:p>
          <a:p>
            <a:r>
              <a:rPr lang="en-US" sz="2800" b="1" dirty="0"/>
              <a:t>D. IT &amp; Technical Support</a:t>
            </a:r>
          </a:p>
          <a:p>
            <a:pPr marL="342900" indent="-342900">
              <a:buFont typeface="Arial" panose="020B0604020202020204" pitchFamily="34" charset="0"/>
              <a:buChar char="•"/>
            </a:pPr>
            <a:r>
              <a:rPr lang="en-US" sz="2800" dirty="0"/>
              <a:t>Remote Tech Support</a:t>
            </a:r>
          </a:p>
          <a:p>
            <a:pPr marL="342900" indent="-342900">
              <a:buFont typeface="Arial" panose="020B0604020202020204" pitchFamily="34" charset="0"/>
              <a:buChar char="•"/>
            </a:pPr>
            <a:r>
              <a:rPr lang="en-US" sz="2800" dirty="0"/>
              <a:t>IT Helpdesk Troubleshooting &amp; End-user Support</a:t>
            </a:r>
          </a:p>
          <a:p>
            <a:pPr marL="342900" indent="-342900">
              <a:buFont typeface="Arial" panose="020B0604020202020204" pitchFamily="34" charset="0"/>
              <a:buChar char="•"/>
            </a:pPr>
            <a:r>
              <a:rPr lang="en-US" sz="2800" dirty="0"/>
              <a:t>Basic Infrastructure Support</a:t>
            </a:r>
          </a:p>
          <a:p>
            <a:endParaRPr lang="en-US" sz="2100" dirty="0"/>
          </a:p>
          <a:p>
            <a:endParaRPr lang="en-US" sz="2100" b="1" dirty="0"/>
          </a:p>
        </p:txBody>
      </p:sp>
      <p:pic>
        <p:nvPicPr>
          <p:cNvPr id="15" name="Picture 14">
            <a:extLst>
              <a:ext uri="{FF2B5EF4-FFF2-40B4-BE49-F238E27FC236}">
                <a16:creationId xmlns:a16="http://schemas.microsoft.com/office/drawing/2014/main" id="{8BF1E6B4-4025-8DD8-24BF-6C6F67702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12" y="118723"/>
            <a:ext cx="1635164" cy="941835"/>
          </a:xfrm>
          <a:prstGeom prst="rect">
            <a:avLst/>
          </a:prstGeom>
        </p:spPr>
      </p:pic>
      <p:sp>
        <p:nvSpPr>
          <p:cNvPr id="17" name="TextBox 16">
            <a:extLst>
              <a:ext uri="{FF2B5EF4-FFF2-40B4-BE49-F238E27FC236}">
                <a16:creationId xmlns:a16="http://schemas.microsoft.com/office/drawing/2014/main" id="{D9842E0A-AFB0-5260-1D2E-61847BBC4EB1}"/>
              </a:ext>
            </a:extLst>
          </p:cNvPr>
          <p:cNvSpPr txBox="1"/>
          <p:nvPr/>
        </p:nvSpPr>
        <p:spPr>
          <a:xfrm>
            <a:off x="6565639" y="1027009"/>
            <a:ext cx="5271796" cy="5693866"/>
          </a:xfrm>
          <a:prstGeom prst="rect">
            <a:avLst/>
          </a:prstGeom>
          <a:noFill/>
        </p:spPr>
        <p:txBody>
          <a:bodyPr wrap="square" rtlCol="0">
            <a:spAutoFit/>
          </a:bodyPr>
          <a:lstStyle/>
          <a:p>
            <a:r>
              <a:rPr lang="en-US" sz="2800" b="1" dirty="0"/>
              <a:t>E. Field &amp; On-ground Support </a:t>
            </a:r>
          </a:p>
          <a:p>
            <a:pPr marL="342900" indent="-342900">
              <a:buFont typeface="Arial" panose="020B0604020202020204" pitchFamily="34" charset="0"/>
              <a:buChar char="•"/>
            </a:pPr>
            <a:r>
              <a:rPr lang="en-US" sz="2800" dirty="0"/>
              <a:t>Field Operations Management Vendor / Partner Coordination</a:t>
            </a:r>
          </a:p>
          <a:p>
            <a:pPr marL="342900" indent="-342900">
              <a:buFont typeface="Arial" panose="020B0604020202020204" pitchFamily="34" charset="0"/>
              <a:buChar char="•"/>
            </a:pPr>
            <a:r>
              <a:rPr lang="en-US" sz="2800" dirty="0"/>
              <a:t>Audit &amp; Verification</a:t>
            </a:r>
          </a:p>
          <a:p>
            <a:pPr marL="342900" indent="-342900">
              <a:buFont typeface="Arial" panose="020B0604020202020204" pitchFamily="34" charset="0"/>
              <a:buChar char="•"/>
            </a:pPr>
            <a:r>
              <a:rPr lang="en-US" sz="2800" dirty="0"/>
              <a:t>On-site Workforce Deployment</a:t>
            </a:r>
          </a:p>
          <a:p>
            <a:endParaRPr lang="en-US" sz="2800" b="1" dirty="0"/>
          </a:p>
          <a:p>
            <a:r>
              <a:rPr lang="en-US" sz="2800" b="1" dirty="0"/>
              <a:t>F. Event Management Services</a:t>
            </a:r>
          </a:p>
          <a:p>
            <a:pPr marL="342900" indent="-342900">
              <a:buFont typeface="Arial" panose="020B0604020202020204" pitchFamily="34" charset="0"/>
              <a:buChar char="•"/>
            </a:pPr>
            <a:r>
              <a:rPr lang="en-US" sz="2800" dirty="0"/>
              <a:t>Corporate Events</a:t>
            </a:r>
          </a:p>
          <a:p>
            <a:pPr marL="342900" indent="-342900">
              <a:buFont typeface="Arial" panose="020B0604020202020204" pitchFamily="34" charset="0"/>
              <a:buChar char="•"/>
            </a:pPr>
            <a:r>
              <a:rPr lang="en-US" sz="2800" dirty="0"/>
              <a:t>Conferences &amp; Seminars</a:t>
            </a:r>
          </a:p>
          <a:p>
            <a:pPr marL="342900" indent="-342900">
              <a:buFont typeface="Arial" panose="020B0604020202020204" pitchFamily="34" charset="0"/>
              <a:buChar char="•"/>
            </a:pPr>
            <a:r>
              <a:rPr lang="en-US" sz="2800" dirty="0"/>
              <a:t>Training Workshops &amp; Internal Events</a:t>
            </a:r>
          </a:p>
          <a:p>
            <a:pPr marL="342900" indent="-342900">
              <a:buFont typeface="Arial" panose="020B0604020202020204" pitchFamily="34" charset="0"/>
              <a:buChar char="•"/>
            </a:pPr>
            <a:r>
              <a:rPr lang="en-US" sz="2800" dirty="0"/>
              <a:t>Employee Engagement Activities</a:t>
            </a:r>
          </a:p>
        </p:txBody>
      </p:sp>
    </p:spTree>
    <p:extLst>
      <p:ext uri="{BB962C8B-B14F-4D97-AF65-F5344CB8AC3E}">
        <p14:creationId xmlns:p14="http://schemas.microsoft.com/office/powerpoint/2010/main" val="4784236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anim calcmode="lin" valueType="num">
                                      <p:cBhvr>
                                        <p:cTn id="8"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500"/>
                                        <p:tgtEl>
                                          <p:spTgt spid="10">
                                            <p:txEl>
                                              <p:pRg st="1" end="1"/>
                                            </p:txEl>
                                          </p:spTgt>
                                        </p:tgtEl>
                                      </p:cBhvr>
                                    </p:animEffect>
                                    <p:anim calcmode="lin" valueType="num">
                                      <p:cBhvr>
                                        <p:cTn id="14"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5" dur="5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500"/>
                                        <p:tgtEl>
                                          <p:spTgt spid="10">
                                            <p:txEl>
                                              <p:pRg st="2" end="2"/>
                                            </p:txEl>
                                          </p:spTgt>
                                        </p:tgtEl>
                                      </p:cBhvr>
                                    </p:animEffect>
                                    <p:anim calcmode="lin" valueType="num">
                                      <p:cBhvr>
                                        <p:cTn id="20"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Effect transition="in" filter="fade">
                                      <p:cBhvr>
                                        <p:cTn id="25" dur="500"/>
                                        <p:tgtEl>
                                          <p:spTgt spid="10">
                                            <p:txEl>
                                              <p:pRg st="3" end="3"/>
                                            </p:txEl>
                                          </p:spTgt>
                                        </p:tgtEl>
                                      </p:cBhvr>
                                    </p:animEffect>
                                    <p:anim calcmode="lin" valueType="num">
                                      <p:cBhvr>
                                        <p:cTn id="26"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7" dur="5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Effect transition="in" filter="fade">
                                      <p:cBhvr>
                                        <p:cTn id="31" dur="500"/>
                                        <p:tgtEl>
                                          <p:spTgt spid="10">
                                            <p:txEl>
                                              <p:pRg st="4" end="4"/>
                                            </p:txEl>
                                          </p:spTgt>
                                        </p:tgtEl>
                                      </p:cBhvr>
                                    </p:animEffect>
                                    <p:anim calcmode="lin" valueType="num">
                                      <p:cBhvr>
                                        <p:cTn id="32"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3" dur="5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Effect transition="in" filter="fade">
                                      <p:cBhvr>
                                        <p:cTn id="37" dur="500"/>
                                        <p:tgtEl>
                                          <p:spTgt spid="10">
                                            <p:txEl>
                                              <p:pRg st="5" end="5"/>
                                            </p:txEl>
                                          </p:spTgt>
                                        </p:tgtEl>
                                      </p:cBhvr>
                                    </p:animEffect>
                                    <p:anim calcmode="lin" valueType="num">
                                      <p:cBhvr>
                                        <p:cTn id="38"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9" dur="5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10">
                                            <p:txEl>
                                              <p:pRg st="7" end="7"/>
                                            </p:txEl>
                                          </p:spTgt>
                                        </p:tgtEl>
                                        <p:attrNameLst>
                                          <p:attrName>style.visibility</p:attrName>
                                        </p:attrNameLst>
                                      </p:cBhvr>
                                      <p:to>
                                        <p:strVal val="visible"/>
                                      </p:to>
                                    </p:set>
                                    <p:animEffect transition="in" filter="fade">
                                      <p:cBhvr>
                                        <p:cTn id="43" dur="500"/>
                                        <p:tgtEl>
                                          <p:spTgt spid="10">
                                            <p:txEl>
                                              <p:pRg st="7" end="7"/>
                                            </p:txEl>
                                          </p:spTgt>
                                        </p:tgtEl>
                                      </p:cBhvr>
                                    </p:animEffect>
                                    <p:anim calcmode="lin" valueType="num">
                                      <p:cBhvr>
                                        <p:cTn id="44"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45" dur="5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nodeType="after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animEffect transition="in" filter="fade">
                                      <p:cBhvr>
                                        <p:cTn id="49" dur="500"/>
                                        <p:tgtEl>
                                          <p:spTgt spid="10">
                                            <p:txEl>
                                              <p:pRg st="8" end="8"/>
                                            </p:txEl>
                                          </p:spTgt>
                                        </p:tgtEl>
                                      </p:cBhvr>
                                    </p:animEffect>
                                    <p:anim calcmode="lin" valueType="num">
                                      <p:cBhvr>
                                        <p:cTn id="50"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51" dur="5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0"/>
                                  </p:stCondLst>
                                  <p:childTnLst>
                                    <p:set>
                                      <p:cBhvr>
                                        <p:cTn id="54" dur="1" fill="hold">
                                          <p:stCondLst>
                                            <p:cond delay="0"/>
                                          </p:stCondLst>
                                        </p:cTn>
                                        <p:tgtEl>
                                          <p:spTgt spid="10">
                                            <p:txEl>
                                              <p:pRg st="9" end="9"/>
                                            </p:txEl>
                                          </p:spTgt>
                                        </p:tgtEl>
                                        <p:attrNameLst>
                                          <p:attrName>style.visibility</p:attrName>
                                        </p:attrNameLst>
                                      </p:cBhvr>
                                      <p:to>
                                        <p:strVal val="visible"/>
                                      </p:to>
                                    </p:set>
                                    <p:animEffect transition="in" filter="fade">
                                      <p:cBhvr>
                                        <p:cTn id="55" dur="500"/>
                                        <p:tgtEl>
                                          <p:spTgt spid="10">
                                            <p:txEl>
                                              <p:pRg st="9" end="9"/>
                                            </p:txEl>
                                          </p:spTgt>
                                        </p:tgtEl>
                                      </p:cBhvr>
                                    </p:animEffect>
                                    <p:anim calcmode="lin" valueType="num">
                                      <p:cBhvr>
                                        <p:cTn id="56"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57" dur="5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nodeType="afterEffect">
                                  <p:stCondLst>
                                    <p:cond delay="0"/>
                                  </p:stCondLst>
                                  <p:childTnLst>
                                    <p:set>
                                      <p:cBhvr>
                                        <p:cTn id="60" dur="1" fill="hold">
                                          <p:stCondLst>
                                            <p:cond delay="0"/>
                                          </p:stCondLst>
                                        </p:cTn>
                                        <p:tgtEl>
                                          <p:spTgt spid="10">
                                            <p:txEl>
                                              <p:pRg st="10" end="10"/>
                                            </p:txEl>
                                          </p:spTgt>
                                        </p:tgtEl>
                                        <p:attrNameLst>
                                          <p:attrName>style.visibility</p:attrName>
                                        </p:attrNameLst>
                                      </p:cBhvr>
                                      <p:to>
                                        <p:strVal val="visible"/>
                                      </p:to>
                                    </p:set>
                                    <p:animEffect transition="in" filter="fade">
                                      <p:cBhvr>
                                        <p:cTn id="61" dur="500"/>
                                        <p:tgtEl>
                                          <p:spTgt spid="10">
                                            <p:txEl>
                                              <p:pRg st="10" end="10"/>
                                            </p:txEl>
                                          </p:spTgt>
                                        </p:tgtEl>
                                      </p:cBhvr>
                                    </p:animEffect>
                                    <p:anim calcmode="lin" valueType="num">
                                      <p:cBhvr>
                                        <p:cTn id="62"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63" dur="5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nodeType="afterEffect">
                                  <p:stCondLst>
                                    <p:cond delay="0"/>
                                  </p:stCondLst>
                                  <p:childTnLst>
                                    <p:set>
                                      <p:cBhvr>
                                        <p:cTn id="66" dur="1" fill="hold">
                                          <p:stCondLst>
                                            <p:cond delay="0"/>
                                          </p:stCondLst>
                                        </p:cTn>
                                        <p:tgtEl>
                                          <p:spTgt spid="17">
                                            <p:txEl>
                                              <p:pRg st="0" end="0"/>
                                            </p:txEl>
                                          </p:spTgt>
                                        </p:tgtEl>
                                        <p:attrNameLst>
                                          <p:attrName>style.visibility</p:attrName>
                                        </p:attrNameLst>
                                      </p:cBhvr>
                                      <p:to>
                                        <p:strVal val="visible"/>
                                      </p:to>
                                    </p:set>
                                    <p:animEffect transition="in" filter="fade">
                                      <p:cBhvr>
                                        <p:cTn id="67" dur="1000"/>
                                        <p:tgtEl>
                                          <p:spTgt spid="17">
                                            <p:txEl>
                                              <p:pRg st="0" end="0"/>
                                            </p:txEl>
                                          </p:spTgt>
                                        </p:tgtEl>
                                      </p:cBhvr>
                                    </p:animEffect>
                                    <p:anim calcmode="lin" valueType="num">
                                      <p:cBhvr>
                                        <p:cTn id="6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par>
                          <p:cTn id="70" fill="hold">
                            <p:stCondLst>
                              <p:cond delay="6000"/>
                            </p:stCondLst>
                            <p:childTnLst>
                              <p:par>
                                <p:cTn id="71" presetID="42" presetClass="entr" presetSubtype="0" fill="hold" nodeType="afterEffect">
                                  <p:stCondLst>
                                    <p:cond delay="0"/>
                                  </p:stCondLst>
                                  <p:childTnLst>
                                    <p:set>
                                      <p:cBhvr>
                                        <p:cTn id="72" dur="1" fill="hold">
                                          <p:stCondLst>
                                            <p:cond delay="0"/>
                                          </p:stCondLst>
                                        </p:cTn>
                                        <p:tgtEl>
                                          <p:spTgt spid="17">
                                            <p:txEl>
                                              <p:pRg st="1" end="1"/>
                                            </p:txEl>
                                          </p:spTgt>
                                        </p:tgtEl>
                                        <p:attrNameLst>
                                          <p:attrName>style.visibility</p:attrName>
                                        </p:attrNameLst>
                                      </p:cBhvr>
                                      <p:to>
                                        <p:strVal val="visible"/>
                                      </p:to>
                                    </p:set>
                                    <p:animEffect transition="in" filter="fade">
                                      <p:cBhvr>
                                        <p:cTn id="73" dur="1000"/>
                                        <p:tgtEl>
                                          <p:spTgt spid="17">
                                            <p:txEl>
                                              <p:pRg st="1" end="1"/>
                                            </p:txEl>
                                          </p:spTgt>
                                        </p:tgtEl>
                                      </p:cBhvr>
                                    </p:animEffect>
                                    <p:anim calcmode="lin" valueType="num">
                                      <p:cBhvr>
                                        <p:cTn id="74"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75"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42" presetClass="entr" presetSubtype="0" fill="hold" nodeType="afterEffect">
                                  <p:stCondLst>
                                    <p:cond delay="0"/>
                                  </p:stCondLst>
                                  <p:childTnLst>
                                    <p:set>
                                      <p:cBhvr>
                                        <p:cTn id="78" dur="1" fill="hold">
                                          <p:stCondLst>
                                            <p:cond delay="0"/>
                                          </p:stCondLst>
                                        </p:cTn>
                                        <p:tgtEl>
                                          <p:spTgt spid="17">
                                            <p:txEl>
                                              <p:pRg st="2" end="2"/>
                                            </p:txEl>
                                          </p:spTgt>
                                        </p:tgtEl>
                                        <p:attrNameLst>
                                          <p:attrName>style.visibility</p:attrName>
                                        </p:attrNameLst>
                                      </p:cBhvr>
                                      <p:to>
                                        <p:strVal val="visible"/>
                                      </p:to>
                                    </p:set>
                                    <p:animEffect transition="in" filter="fade">
                                      <p:cBhvr>
                                        <p:cTn id="79" dur="1000"/>
                                        <p:tgtEl>
                                          <p:spTgt spid="17">
                                            <p:txEl>
                                              <p:pRg st="2" end="2"/>
                                            </p:txEl>
                                          </p:spTgt>
                                        </p:tgtEl>
                                      </p:cBhvr>
                                    </p:animEffect>
                                    <p:anim calcmode="lin" valueType="num">
                                      <p:cBhvr>
                                        <p:cTn id="80"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81"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par>
                          <p:cTn id="82" fill="hold">
                            <p:stCondLst>
                              <p:cond delay="8000"/>
                            </p:stCondLst>
                            <p:childTnLst>
                              <p:par>
                                <p:cTn id="83" presetID="42" presetClass="entr" presetSubtype="0" fill="hold" nodeType="afterEffect">
                                  <p:stCondLst>
                                    <p:cond delay="0"/>
                                  </p:stCondLst>
                                  <p:childTnLst>
                                    <p:set>
                                      <p:cBhvr>
                                        <p:cTn id="84" dur="1" fill="hold">
                                          <p:stCondLst>
                                            <p:cond delay="0"/>
                                          </p:stCondLst>
                                        </p:cTn>
                                        <p:tgtEl>
                                          <p:spTgt spid="17">
                                            <p:txEl>
                                              <p:pRg st="3" end="3"/>
                                            </p:txEl>
                                          </p:spTgt>
                                        </p:tgtEl>
                                        <p:attrNameLst>
                                          <p:attrName>style.visibility</p:attrName>
                                        </p:attrNameLst>
                                      </p:cBhvr>
                                      <p:to>
                                        <p:strVal val="visible"/>
                                      </p:to>
                                    </p:set>
                                    <p:animEffect transition="in" filter="fade">
                                      <p:cBhvr>
                                        <p:cTn id="85" dur="1000"/>
                                        <p:tgtEl>
                                          <p:spTgt spid="17">
                                            <p:txEl>
                                              <p:pRg st="3" end="3"/>
                                            </p:txEl>
                                          </p:spTgt>
                                        </p:tgtEl>
                                      </p:cBhvr>
                                    </p:animEffect>
                                    <p:anim calcmode="lin" valueType="num">
                                      <p:cBhvr>
                                        <p:cTn id="86"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87"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par>
                          <p:cTn id="88" fill="hold">
                            <p:stCondLst>
                              <p:cond delay="9000"/>
                            </p:stCondLst>
                            <p:childTnLst>
                              <p:par>
                                <p:cTn id="89" presetID="42" presetClass="entr" presetSubtype="0" fill="hold" nodeType="afterEffect">
                                  <p:stCondLst>
                                    <p:cond delay="0"/>
                                  </p:stCondLst>
                                  <p:childTnLst>
                                    <p:set>
                                      <p:cBhvr>
                                        <p:cTn id="90" dur="1" fill="hold">
                                          <p:stCondLst>
                                            <p:cond delay="0"/>
                                          </p:stCondLst>
                                        </p:cTn>
                                        <p:tgtEl>
                                          <p:spTgt spid="17">
                                            <p:txEl>
                                              <p:pRg st="5" end="5"/>
                                            </p:txEl>
                                          </p:spTgt>
                                        </p:tgtEl>
                                        <p:attrNameLst>
                                          <p:attrName>style.visibility</p:attrName>
                                        </p:attrNameLst>
                                      </p:cBhvr>
                                      <p:to>
                                        <p:strVal val="visible"/>
                                      </p:to>
                                    </p:set>
                                    <p:animEffect transition="in" filter="fade">
                                      <p:cBhvr>
                                        <p:cTn id="91" dur="1000"/>
                                        <p:tgtEl>
                                          <p:spTgt spid="17">
                                            <p:txEl>
                                              <p:pRg st="5" end="5"/>
                                            </p:txEl>
                                          </p:spTgt>
                                        </p:tgtEl>
                                      </p:cBhvr>
                                    </p:animEffect>
                                    <p:anim calcmode="lin" valueType="num">
                                      <p:cBhvr>
                                        <p:cTn id="92" dur="1000" fill="hold"/>
                                        <p:tgtEl>
                                          <p:spTgt spid="17">
                                            <p:txEl>
                                              <p:pRg st="5" end="5"/>
                                            </p:txEl>
                                          </p:spTgt>
                                        </p:tgtEl>
                                        <p:attrNameLst>
                                          <p:attrName>ppt_x</p:attrName>
                                        </p:attrNameLst>
                                      </p:cBhvr>
                                      <p:tavLst>
                                        <p:tav tm="0">
                                          <p:val>
                                            <p:strVal val="#ppt_x"/>
                                          </p:val>
                                        </p:tav>
                                        <p:tav tm="100000">
                                          <p:val>
                                            <p:strVal val="#ppt_x"/>
                                          </p:val>
                                        </p:tav>
                                      </p:tavLst>
                                    </p:anim>
                                    <p:anim calcmode="lin" valueType="num">
                                      <p:cBhvr>
                                        <p:cTn id="93" dur="1000" fill="hold"/>
                                        <p:tgtEl>
                                          <p:spTgt spid="17">
                                            <p:txEl>
                                              <p:pRg st="5" end="5"/>
                                            </p:txEl>
                                          </p:spTgt>
                                        </p:tgtEl>
                                        <p:attrNameLst>
                                          <p:attrName>ppt_y</p:attrName>
                                        </p:attrNameLst>
                                      </p:cBhvr>
                                      <p:tavLst>
                                        <p:tav tm="0">
                                          <p:val>
                                            <p:strVal val="#ppt_y+.1"/>
                                          </p:val>
                                        </p:tav>
                                        <p:tav tm="100000">
                                          <p:val>
                                            <p:strVal val="#ppt_y"/>
                                          </p:val>
                                        </p:tav>
                                      </p:tavLst>
                                    </p:anim>
                                  </p:childTnLst>
                                </p:cTn>
                              </p:par>
                            </p:childTnLst>
                          </p:cTn>
                        </p:par>
                        <p:par>
                          <p:cTn id="94" fill="hold">
                            <p:stCondLst>
                              <p:cond delay="10000"/>
                            </p:stCondLst>
                            <p:childTnLst>
                              <p:par>
                                <p:cTn id="95" presetID="42" presetClass="entr" presetSubtype="0" fill="hold" nodeType="afterEffect">
                                  <p:stCondLst>
                                    <p:cond delay="0"/>
                                  </p:stCondLst>
                                  <p:childTnLst>
                                    <p:set>
                                      <p:cBhvr>
                                        <p:cTn id="96" dur="1" fill="hold">
                                          <p:stCondLst>
                                            <p:cond delay="0"/>
                                          </p:stCondLst>
                                        </p:cTn>
                                        <p:tgtEl>
                                          <p:spTgt spid="17">
                                            <p:txEl>
                                              <p:pRg st="6" end="6"/>
                                            </p:txEl>
                                          </p:spTgt>
                                        </p:tgtEl>
                                        <p:attrNameLst>
                                          <p:attrName>style.visibility</p:attrName>
                                        </p:attrNameLst>
                                      </p:cBhvr>
                                      <p:to>
                                        <p:strVal val="visible"/>
                                      </p:to>
                                    </p:set>
                                    <p:animEffect transition="in" filter="fade">
                                      <p:cBhvr>
                                        <p:cTn id="97" dur="1000"/>
                                        <p:tgtEl>
                                          <p:spTgt spid="17">
                                            <p:txEl>
                                              <p:pRg st="6" end="6"/>
                                            </p:txEl>
                                          </p:spTgt>
                                        </p:tgtEl>
                                      </p:cBhvr>
                                    </p:animEffect>
                                    <p:anim calcmode="lin" valueType="num">
                                      <p:cBhvr>
                                        <p:cTn id="98"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99" dur="1000" fill="hold"/>
                                        <p:tgtEl>
                                          <p:spTgt spid="17">
                                            <p:txEl>
                                              <p:pRg st="6" end="6"/>
                                            </p:txEl>
                                          </p:spTgt>
                                        </p:tgtEl>
                                        <p:attrNameLst>
                                          <p:attrName>ppt_y</p:attrName>
                                        </p:attrNameLst>
                                      </p:cBhvr>
                                      <p:tavLst>
                                        <p:tav tm="0">
                                          <p:val>
                                            <p:strVal val="#ppt_y+.1"/>
                                          </p:val>
                                        </p:tav>
                                        <p:tav tm="100000">
                                          <p:val>
                                            <p:strVal val="#ppt_y"/>
                                          </p:val>
                                        </p:tav>
                                      </p:tavLst>
                                    </p:anim>
                                  </p:childTnLst>
                                </p:cTn>
                              </p:par>
                            </p:childTnLst>
                          </p:cTn>
                        </p:par>
                        <p:par>
                          <p:cTn id="100" fill="hold">
                            <p:stCondLst>
                              <p:cond delay="11000"/>
                            </p:stCondLst>
                            <p:childTnLst>
                              <p:par>
                                <p:cTn id="101" presetID="42" presetClass="entr" presetSubtype="0" fill="hold" nodeType="afterEffect">
                                  <p:stCondLst>
                                    <p:cond delay="0"/>
                                  </p:stCondLst>
                                  <p:childTnLst>
                                    <p:set>
                                      <p:cBhvr>
                                        <p:cTn id="102" dur="1" fill="hold">
                                          <p:stCondLst>
                                            <p:cond delay="0"/>
                                          </p:stCondLst>
                                        </p:cTn>
                                        <p:tgtEl>
                                          <p:spTgt spid="17">
                                            <p:txEl>
                                              <p:pRg st="7" end="7"/>
                                            </p:txEl>
                                          </p:spTgt>
                                        </p:tgtEl>
                                        <p:attrNameLst>
                                          <p:attrName>style.visibility</p:attrName>
                                        </p:attrNameLst>
                                      </p:cBhvr>
                                      <p:to>
                                        <p:strVal val="visible"/>
                                      </p:to>
                                    </p:set>
                                    <p:animEffect transition="in" filter="fade">
                                      <p:cBhvr>
                                        <p:cTn id="103" dur="1000"/>
                                        <p:tgtEl>
                                          <p:spTgt spid="17">
                                            <p:txEl>
                                              <p:pRg st="7" end="7"/>
                                            </p:txEl>
                                          </p:spTgt>
                                        </p:tgtEl>
                                      </p:cBhvr>
                                    </p:animEffect>
                                    <p:anim calcmode="lin" valueType="num">
                                      <p:cBhvr>
                                        <p:cTn id="104" dur="1000" fill="hold"/>
                                        <p:tgtEl>
                                          <p:spTgt spid="17">
                                            <p:txEl>
                                              <p:pRg st="7" end="7"/>
                                            </p:txEl>
                                          </p:spTgt>
                                        </p:tgtEl>
                                        <p:attrNameLst>
                                          <p:attrName>ppt_x</p:attrName>
                                        </p:attrNameLst>
                                      </p:cBhvr>
                                      <p:tavLst>
                                        <p:tav tm="0">
                                          <p:val>
                                            <p:strVal val="#ppt_x"/>
                                          </p:val>
                                        </p:tav>
                                        <p:tav tm="100000">
                                          <p:val>
                                            <p:strVal val="#ppt_x"/>
                                          </p:val>
                                        </p:tav>
                                      </p:tavLst>
                                    </p:anim>
                                    <p:anim calcmode="lin" valueType="num">
                                      <p:cBhvr>
                                        <p:cTn id="105" dur="1000" fill="hold"/>
                                        <p:tgtEl>
                                          <p:spTgt spid="17">
                                            <p:txEl>
                                              <p:pRg st="7" end="7"/>
                                            </p:txEl>
                                          </p:spTgt>
                                        </p:tgtEl>
                                        <p:attrNameLst>
                                          <p:attrName>ppt_y</p:attrName>
                                        </p:attrNameLst>
                                      </p:cBhvr>
                                      <p:tavLst>
                                        <p:tav tm="0">
                                          <p:val>
                                            <p:strVal val="#ppt_y+.1"/>
                                          </p:val>
                                        </p:tav>
                                        <p:tav tm="100000">
                                          <p:val>
                                            <p:strVal val="#ppt_y"/>
                                          </p:val>
                                        </p:tav>
                                      </p:tavLst>
                                    </p:anim>
                                  </p:childTnLst>
                                </p:cTn>
                              </p:par>
                            </p:childTnLst>
                          </p:cTn>
                        </p:par>
                        <p:par>
                          <p:cTn id="106" fill="hold">
                            <p:stCondLst>
                              <p:cond delay="12000"/>
                            </p:stCondLst>
                            <p:childTnLst>
                              <p:par>
                                <p:cTn id="107" presetID="42" presetClass="entr" presetSubtype="0" fill="hold" nodeType="afterEffect">
                                  <p:stCondLst>
                                    <p:cond delay="0"/>
                                  </p:stCondLst>
                                  <p:childTnLst>
                                    <p:set>
                                      <p:cBhvr>
                                        <p:cTn id="108" dur="1" fill="hold">
                                          <p:stCondLst>
                                            <p:cond delay="0"/>
                                          </p:stCondLst>
                                        </p:cTn>
                                        <p:tgtEl>
                                          <p:spTgt spid="17">
                                            <p:txEl>
                                              <p:pRg st="8" end="8"/>
                                            </p:txEl>
                                          </p:spTgt>
                                        </p:tgtEl>
                                        <p:attrNameLst>
                                          <p:attrName>style.visibility</p:attrName>
                                        </p:attrNameLst>
                                      </p:cBhvr>
                                      <p:to>
                                        <p:strVal val="visible"/>
                                      </p:to>
                                    </p:set>
                                    <p:animEffect transition="in" filter="fade">
                                      <p:cBhvr>
                                        <p:cTn id="109" dur="1000"/>
                                        <p:tgtEl>
                                          <p:spTgt spid="17">
                                            <p:txEl>
                                              <p:pRg st="8" end="8"/>
                                            </p:txEl>
                                          </p:spTgt>
                                        </p:tgtEl>
                                      </p:cBhvr>
                                    </p:animEffect>
                                    <p:anim calcmode="lin" valueType="num">
                                      <p:cBhvr>
                                        <p:cTn id="110" dur="1000" fill="hold"/>
                                        <p:tgtEl>
                                          <p:spTgt spid="17">
                                            <p:txEl>
                                              <p:pRg st="8" end="8"/>
                                            </p:txEl>
                                          </p:spTgt>
                                        </p:tgtEl>
                                        <p:attrNameLst>
                                          <p:attrName>ppt_x</p:attrName>
                                        </p:attrNameLst>
                                      </p:cBhvr>
                                      <p:tavLst>
                                        <p:tav tm="0">
                                          <p:val>
                                            <p:strVal val="#ppt_x"/>
                                          </p:val>
                                        </p:tav>
                                        <p:tav tm="100000">
                                          <p:val>
                                            <p:strVal val="#ppt_x"/>
                                          </p:val>
                                        </p:tav>
                                      </p:tavLst>
                                    </p:anim>
                                    <p:anim calcmode="lin" valueType="num">
                                      <p:cBhvr>
                                        <p:cTn id="111" dur="1000" fill="hold"/>
                                        <p:tgtEl>
                                          <p:spTgt spid="17">
                                            <p:txEl>
                                              <p:pRg st="8" end="8"/>
                                            </p:txEl>
                                          </p:spTgt>
                                        </p:tgtEl>
                                        <p:attrNameLst>
                                          <p:attrName>ppt_y</p:attrName>
                                        </p:attrNameLst>
                                      </p:cBhvr>
                                      <p:tavLst>
                                        <p:tav tm="0">
                                          <p:val>
                                            <p:strVal val="#ppt_y+.1"/>
                                          </p:val>
                                        </p:tav>
                                        <p:tav tm="100000">
                                          <p:val>
                                            <p:strVal val="#ppt_y"/>
                                          </p:val>
                                        </p:tav>
                                      </p:tavLst>
                                    </p:anim>
                                  </p:childTnLst>
                                </p:cTn>
                              </p:par>
                            </p:childTnLst>
                          </p:cTn>
                        </p:par>
                        <p:par>
                          <p:cTn id="112" fill="hold">
                            <p:stCondLst>
                              <p:cond delay="13000"/>
                            </p:stCondLst>
                            <p:childTnLst>
                              <p:par>
                                <p:cTn id="113" presetID="42" presetClass="entr" presetSubtype="0" fill="hold" nodeType="afterEffect">
                                  <p:stCondLst>
                                    <p:cond delay="0"/>
                                  </p:stCondLst>
                                  <p:childTnLst>
                                    <p:set>
                                      <p:cBhvr>
                                        <p:cTn id="114" dur="1" fill="hold">
                                          <p:stCondLst>
                                            <p:cond delay="0"/>
                                          </p:stCondLst>
                                        </p:cTn>
                                        <p:tgtEl>
                                          <p:spTgt spid="17">
                                            <p:txEl>
                                              <p:pRg st="9" end="9"/>
                                            </p:txEl>
                                          </p:spTgt>
                                        </p:tgtEl>
                                        <p:attrNameLst>
                                          <p:attrName>style.visibility</p:attrName>
                                        </p:attrNameLst>
                                      </p:cBhvr>
                                      <p:to>
                                        <p:strVal val="visible"/>
                                      </p:to>
                                    </p:set>
                                    <p:animEffect transition="in" filter="fade">
                                      <p:cBhvr>
                                        <p:cTn id="115" dur="1000"/>
                                        <p:tgtEl>
                                          <p:spTgt spid="17">
                                            <p:txEl>
                                              <p:pRg st="9" end="9"/>
                                            </p:txEl>
                                          </p:spTgt>
                                        </p:tgtEl>
                                      </p:cBhvr>
                                    </p:animEffect>
                                    <p:anim calcmode="lin" valueType="num">
                                      <p:cBhvr>
                                        <p:cTn id="116" dur="1000" fill="hold"/>
                                        <p:tgtEl>
                                          <p:spTgt spid="17">
                                            <p:txEl>
                                              <p:pRg st="9" end="9"/>
                                            </p:txEl>
                                          </p:spTgt>
                                        </p:tgtEl>
                                        <p:attrNameLst>
                                          <p:attrName>ppt_x</p:attrName>
                                        </p:attrNameLst>
                                      </p:cBhvr>
                                      <p:tavLst>
                                        <p:tav tm="0">
                                          <p:val>
                                            <p:strVal val="#ppt_x"/>
                                          </p:val>
                                        </p:tav>
                                        <p:tav tm="100000">
                                          <p:val>
                                            <p:strVal val="#ppt_x"/>
                                          </p:val>
                                        </p:tav>
                                      </p:tavLst>
                                    </p:anim>
                                    <p:anim calcmode="lin" valueType="num">
                                      <p:cBhvr>
                                        <p:cTn id="117" dur="1000" fill="hold"/>
                                        <p:tgtEl>
                                          <p:spTgt spid="1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B103B7B-EBBB-17E1-A877-9438A5FDB3EC}"/>
              </a:ext>
            </a:extLst>
          </p:cNvPr>
          <p:cNvPicPr>
            <a:picLocks noChangeAspect="1"/>
          </p:cNvPicPr>
          <p:nvPr/>
        </p:nvPicPr>
        <p:blipFill>
          <a:blip r:embed="rId2">
            <a:extLst>
              <a:ext uri="{28A0092B-C50C-407E-A947-70E740481C1C}">
                <a14:useLocalDpi xmlns:a14="http://schemas.microsoft.com/office/drawing/2010/main" val="0"/>
              </a:ext>
            </a:extLst>
          </a:blip>
          <a:srcRect l="4970" r="6125" b="1"/>
          <a:stretch>
            <a:fillRect/>
          </a:stretch>
        </p:blipFill>
        <p:spPr>
          <a:xfrm>
            <a:off x="20" y="1282"/>
            <a:ext cx="12191980" cy="6856718"/>
          </a:xfrm>
          <a:prstGeom prst="rect">
            <a:avLst/>
          </a:prstGeom>
        </p:spPr>
      </p:pic>
      <p:pic>
        <p:nvPicPr>
          <p:cNvPr id="4" name="Picture 3">
            <a:extLst>
              <a:ext uri="{FF2B5EF4-FFF2-40B4-BE49-F238E27FC236}">
                <a16:creationId xmlns:a16="http://schemas.microsoft.com/office/drawing/2014/main" id="{2F7829F2-1D98-9597-6A94-7E82FBBE1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629" y="298579"/>
            <a:ext cx="1635164" cy="941835"/>
          </a:xfrm>
          <a:prstGeom prst="rect">
            <a:avLst/>
          </a:prstGeom>
        </p:spPr>
      </p:pic>
      <p:sp>
        <p:nvSpPr>
          <p:cNvPr id="7" name="TextBox 6">
            <a:extLst>
              <a:ext uri="{FF2B5EF4-FFF2-40B4-BE49-F238E27FC236}">
                <a16:creationId xmlns:a16="http://schemas.microsoft.com/office/drawing/2014/main" id="{6459B5E1-C8F8-8377-CEEE-8D0B52667213}"/>
              </a:ext>
            </a:extLst>
          </p:cNvPr>
          <p:cNvSpPr txBox="1"/>
          <p:nvPr/>
        </p:nvSpPr>
        <p:spPr>
          <a:xfrm>
            <a:off x="1579181" y="167950"/>
            <a:ext cx="9600416" cy="5386090"/>
          </a:xfrm>
          <a:prstGeom prst="rect">
            <a:avLst/>
          </a:prstGeom>
          <a:noFill/>
        </p:spPr>
        <p:txBody>
          <a:bodyPr wrap="square" rtlCol="0">
            <a:spAutoFit/>
          </a:bodyPr>
          <a:lstStyle/>
          <a:p>
            <a:pPr algn="ctr"/>
            <a:r>
              <a:rPr lang="en-US" dirty="0"/>
              <a:t> </a:t>
            </a:r>
            <a:r>
              <a:rPr lang="en-US" sz="6000" b="1" dirty="0">
                <a:latin typeface="Berlin Sans FB" panose="020E0602020502020306" pitchFamily="34" charset="0"/>
              </a:rPr>
              <a:t>WHY CHOOSE US?</a:t>
            </a:r>
          </a:p>
          <a:p>
            <a:endParaRPr lang="en-US" sz="6000" b="1" dirty="0"/>
          </a:p>
          <a:p>
            <a:pPr marL="285750" indent="-285750">
              <a:buFont typeface="Arial" panose="020B0604020202020204" pitchFamily="34" charset="0"/>
              <a:buChar char="•"/>
            </a:pPr>
            <a:r>
              <a:rPr lang="en-US" sz="2800" b="1" dirty="0"/>
              <a:t>End-to-end solutions under one roof</a:t>
            </a:r>
          </a:p>
          <a:p>
            <a:pPr marL="285750" indent="-285750">
              <a:buFont typeface="Arial" panose="020B0604020202020204" pitchFamily="34" charset="0"/>
              <a:buChar char="•"/>
            </a:pPr>
            <a:r>
              <a:rPr lang="en-US" sz="2800" b="1" dirty="0"/>
              <a:t>Deep operational experience across India</a:t>
            </a:r>
          </a:p>
          <a:p>
            <a:pPr marL="285750" indent="-285750">
              <a:buFont typeface="Arial" panose="020B0604020202020204" pitchFamily="34" charset="0"/>
              <a:buChar char="•"/>
            </a:pPr>
            <a:r>
              <a:rPr lang="en-US" sz="2800" b="1" dirty="0"/>
              <a:t>Cost-effective, scalable, and quality-driven models</a:t>
            </a:r>
          </a:p>
          <a:p>
            <a:pPr marL="285750" indent="-285750">
              <a:buFont typeface="Arial" panose="020B0604020202020204" pitchFamily="34" charset="0"/>
              <a:buChar char="•"/>
            </a:pPr>
            <a:r>
              <a:rPr lang="en-US" sz="2800" b="1" dirty="0"/>
              <a:t>Custom-built processes tailored to each client</a:t>
            </a:r>
          </a:p>
          <a:p>
            <a:pPr marL="285750" indent="-285750">
              <a:buFont typeface="Arial" panose="020B0604020202020204" pitchFamily="34" charset="0"/>
              <a:buChar char="•"/>
            </a:pPr>
            <a:r>
              <a:rPr lang="en-US" sz="2800" b="1" dirty="0"/>
              <a:t>Strong leadership with proven P&amp;L and business turnaround expertise</a:t>
            </a:r>
          </a:p>
          <a:p>
            <a:pPr marL="285750" indent="-285750">
              <a:buFont typeface="Arial" panose="020B0604020202020204" pitchFamily="34" charset="0"/>
              <a:buChar char="•"/>
            </a:pPr>
            <a:r>
              <a:rPr lang="en-US" sz="2800" b="1" dirty="0"/>
              <a:t>Absolute focus on performance, discipline, and outcomes</a:t>
            </a:r>
            <a:endParaRPr lang="en-US" sz="2400" b="1" dirty="0"/>
          </a:p>
        </p:txBody>
      </p:sp>
    </p:spTree>
    <p:extLst>
      <p:ext uri="{BB962C8B-B14F-4D97-AF65-F5344CB8AC3E}">
        <p14:creationId xmlns:p14="http://schemas.microsoft.com/office/powerpoint/2010/main" val="3820623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03A54-18D8-E7F4-F716-BED088478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1837437" cy="6858000"/>
          </a:xfrm>
          <a:prstGeom prst="rect">
            <a:avLst/>
          </a:prstGeom>
        </p:spPr>
      </p:pic>
      <p:sp>
        <p:nvSpPr>
          <p:cNvPr id="4" name="TextBox 3">
            <a:extLst>
              <a:ext uri="{FF2B5EF4-FFF2-40B4-BE49-F238E27FC236}">
                <a16:creationId xmlns:a16="http://schemas.microsoft.com/office/drawing/2014/main" id="{DA5438C5-B0DC-E254-862B-60E761A9B866}"/>
              </a:ext>
            </a:extLst>
          </p:cNvPr>
          <p:cNvSpPr txBox="1"/>
          <p:nvPr/>
        </p:nvSpPr>
        <p:spPr>
          <a:xfrm>
            <a:off x="354563" y="802432"/>
            <a:ext cx="8341568" cy="4985980"/>
          </a:xfrm>
          <a:prstGeom prst="rect">
            <a:avLst/>
          </a:prstGeom>
          <a:noFill/>
        </p:spPr>
        <p:txBody>
          <a:bodyPr wrap="square" rtlCol="0">
            <a:spAutoFit/>
          </a:bodyPr>
          <a:lstStyle/>
          <a:p>
            <a:pPr algn="ctr"/>
            <a:r>
              <a:rPr lang="en-US" dirty="0">
                <a:latin typeface="Berlin Sans FB" panose="020E0602020502020306" pitchFamily="34" charset="0"/>
              </a:rPr>
              <a:t>                 </a:t>
            </a:r>
            <a:endParaRPr lang="en-US" sz="6000" b="1" dirty="0">
              <a:latin typeface="Berlin Sans FB" panose="020E0602020502020306" pitchFamily="34" charset="0"/>
            </a:endParaRPr>
          </a:p>
          <a:p>
            <a:endParaRPr lang="en-US" sz="6000" dirty="0">
              <a:latin typeface="Berlin Sans FB" panose="020E0602020502020306" pitchFamily="34" charset="0"/>
            </a:endParaRPr>
          </a:p>
          <a:p>
            <a:pPr marL="342900" indent="-342900">
              <a:buFont typeface="Arial" panose="020B0604020202020204" pitchFamily="34" charset="0"/>
              <a:buChar char="•"/>
            </a:pPr>
            <a:r>
              <a:rPr lang="en-US" sz="2400" b="1" dirty="0"/>
              <a:t>Company Name: Grovista Global Pvt Ltd</a:t>
            </a:r>
          </a:p>
          <a:p>
            <a:pPr marL="342900" indent="-342900">
              <a:buFont typeface="Arial" panose="020B0604020202020204" pitchFamily="34" charset="0"/>
              <a:buChar char="•"/>
            </a:pPr>
            <a:r>
              <a:rPr lang="en-US" sz="2400" b="1" dirty="0"/>
              <a:t>CIN: U82990UP2025PTC228571</a:t>
            </a:r>
          </a:p>
          <a:p>
            <a:pPr marL="342900" indent="-342900">
              <a:buFont typeface="Arial" panose="020B0604020202020204" pitchFamily="34" charset="0"/>
              <a:buChar char="•"/>
            </a:pPr>
            <a:r>
              <a:rPr lang="en-US" sz="2400" b="1" dirty="0"/>
              <a:t>Date of Incorporation: 24 July 2025</a:t>
            </a:r>
          </a:p>
          <a:p>
            <a:pPr marL="342900" indent="-342900">
              <a:buFont typeface="Arial" panose="020B0604020202020204" pitchFamily="34" charset="0"/>
              <a:buChar char="•"/>
            </a:pPr>
            <a:r>
              <a:rPr lang="en-US" sz="2400" b="1" dirty="0"/>
              <a:t>Registered Address:N22-2007, 20th Floor, Tower 22, Sector 151,Noida, Gautam Buddha Nagar, Uttar Pradesh — 201301</a:t>
            </a:r>
          </a:p>
          <a:p>
            <a:pPr marL="342900" indent="-342900">
              <a:buFont typeface="Arial" panose="020B0604020202020204" pitchFamily="34" charset="0"/>
              <a:buChar char="•"/>
            </a:pPr>
            <a:r>
              <a:rPr lang="en-US" sz="2400" b="1" dirty="0"/>
              <a:t>Email: </a:t>
            </a:r>
            <a:r>
              <a:rPr lang="en-US" sz="2400" b="1" dirty="0">
                <a:hlinkClick r:id="rId3"/>
              </a:rPr>
              <a:t>grovistaglobal@gmail.com</a:t>
            </a:r>
            <a:endParaRPr lang="en-US" sz="2400" b="1" dirty="0"/>
          </a:p>
          <a:p>
            <a:pPr marL="342900" indent="-342900">
              <a:buFont typeface="Arial" panose="020B0604020202020204" pitchFamily="34" charset="0"/>
              <a:buChar char="•"/>
            </a:pPr>
            <a:r>
              <a:rPr lang="en-US" sz="2400" b="1" dirty="0"/>
              <a:t>Website: Coming Soon </a:t>
            </a:r>
          </a:p>
          <a:p>
            <a:pPr marL="342900" indent="-342900">
              <a:buFont typeface="Arial" panose="020B0604020202020204" pitchFamily="34" charset="0"/>
              <a:buChar char="•"/>
            </a:pPr>
            <a:r>
              <a:rPr lang="en-US" sz="2400" b="1" dirty="0"/>
              <a:t>Status: Active </a:t>
            </a:r>
          </a:p>
          <a:p>
            <a:pPr marL="342900" indent="-342900">
              <a:buFont typeface="Arial" panose="020B0604020202020204" pitchFamily="34" charset="0"/>
              <a:buChar char="•"/>
            </a:pPr>
            <a:r>
              <a:rPr lang="en-US" sz="2400" b="1" dirty="0"/>
              <a:t>Company Type: Private Limited, Limited by Shares</a:t>
            </a:r>
          </a:p>
        </p:txBody>
      </p:sp>
      <p:pic>
        <p:nvPicPr>
          <p:cNvPr id="5" name="Picture 4">
            <a:extLst>
              <a:ext uri="{FF2B5EF4-FFF2-40B4-BE49-F238E27FC236}">
                <a16:creationId xmlns:a16="http://schemas.microsoft.com/office/drawing/2014/main" id="{B22D8919-4815-CCE2-F1F1-B96F89592F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290" y="127752"/>
            <a:ext cx="1635164" cy="941835"/>
          </a:xfrm>
          <a:prstGeom prst="rect">
            <a:avLst/>
          </a:prstGeom>
        </p:spPr>
      </p:pic>
      <p:sp>
        <p:nvSpPr>
          <p:cNvPr id="8" name="TextBox 7">
            <a:extLst>
              <a:ext uri="{FF2B5EF4-FFF2-40B4-BE49-F238E27FC236}">
                <a16:creationId xmlns:a16="http://schemas.microsoft.com/office/drawing/2014/main" id="{516FE196-2303-3C95-CAF5-DCCC08E40804}"/>
              </a:ext>
            </a:extLst>
          </p:cNvPr>
          <p:cNvSpPr txBox="1"/>
          <p:nvPr/>
        </p:nvSpPr>
        <p:spPr>
          <a:xfrm>
            <a:off x="2317102" y="294600"/>
            <a:ext cx="7557795" cy="1015663"/>
          </a:xfrm>
          <a:prstGeom prst="rect">
            <a:avLst/>
          </a:prstGeom>
          <a:noFill/>
        </p:spPr>
        <p:txBody>
          <a:bodyPr wrap="square" rtlCol="0">
            <a:spAutoFit/>
          </a:bodyPr>
          <a:lstStyle/>
          <a:p>
            <a:pPr algn="ctr"/>
            <a:r>
              <a:rPr lang="en-US" sz="6000" b="1" dirty="0">
                <a:latin typeface="Berlin Sans FB" panose="020E0602020502020306" pitchFamily="34" charset="0"/>
              </a:rPr>
              <a:t>COMPANY DETAILS</a:t>
            </a:r>
            <a:endParaRPr lang="en-US" sz="6000" dirty="0"/>
          </a:p>
        </p:txBody>
      </p:sp>
    </p:spTree>
    <p:extLst>
      <p:ext uri="{BB962C8B-B14F-4D97-AF65-F5344CB8AC3E}">
        <p14:creationId xmlns:p14="http://schemas.microsoft.com/office/powerpoint/2010/main" val="1638047368"/>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D244BF8-D87D-B871-1D63-CB90EFD70482}"/>
              </a:ext>
            </a:extLst>
          </p:cNvPr>
          <p:cNvPicPr>
            <a:picLocks noChangeAspect="1"/>
          </p:cNvPicPr>
          <p:nvPr/>
        </p:nvPicPr>
        <p:blipFill>
          <a:blip r:embed="rId2">
            <a:extLst>
              <a:ext uri="{28A0092B-C50C-407E-A947-70E740481C1C}">
                <a14:useLocalDpi xmlns:a14="http://schemas.microsoft.com/office/drawing/2010/main" val="0"/>
              </a:ext>
            </a:extLst>
          </a:blip>
          <a:srcRect l="1717" r="19324"/>
          <a:stretch>
            <a:fillRect/>
          </a:stretch>
        </p:blipFill>
        <p:spPr>
          <a:xfrm>
            <a:off x="1"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11BBB92-4C60-F1CE-F43E-0ACC870C05B8}"/>
              </a:ext>
            </a:extLst>
          </p:cNvPr>
          <p:cNvSpPr txBox="1"/>
          <p:nvPr/>
        </p:nvSpPr>
        <p:spPr>
          <a:xfrm>
            <a:off x="7340973" y="2127390"/>
            <a:ext cx="4851028" cy="4730610"/>
          </a:xfrm>
          <a:prstGeom prst="rect">
            <a:avLst/>
          </a:prstGeom>
        </p:spPr>
        <p:txBody>
          <a:bodyPr vert="horz" lIns="91440" tIns="45720" rIns="91440" bIns="45720" rtlCol="0">
            <a:normAutofit fontScale="92500" lnSpcReduction="20000"/>
          </a:bodyPr>
          <a:lstStyle/>
          <a:p>
            <a:pPr>
              <a:lnSpc>
                <a:spcPct val="90000"/>
              </a:lnSpc>
              <a:spcAft>
                <a:spcPts val="600"/>
              </a:spcAft>
            </a:pPr>
            <a:endParaRPr lang="en-US" sz="1200" b="1" dirty="0"/>
          </a:p>
          <a:p>
            <a:pPr indent="-228600">
              <a:lnSpc>
                <a:spcPct val="90000"/>
              </a:lnSpc>
              <a:spcAft>
                <a:spcPts val="600"/>
              </a:spcAft>
              <a:buFont typeface="Arial" panose="020B0604020202020204" pitchFamily="34" charset="0"/>
              <a:buChar char="•"/>
            </a:pPr>
            <a:r>
              <a:rPr lang="en-US" sz="2600" dirty="0"/>
              <a:t>Grovista Global Pvt Ltd for   business enquiries, partnerships, or service requirements:</a:t>
            </a:r>
          </a:p>
          <a:p>
            <a:pPr>
              <a:lnSpc>
                <a:spcPct val="90000"/>
              </a:lnSpc>
              <a:spcAft>
                <a:spcPts val="600"/>
              </a:spcAft>
            </a:pPr>
            <a:endParaRPr lang="en-US" sz="2600" dirty="0"/>
          </a:p>
          <a:p>
            <a:pPr marL="457200" indent="-457200">
              <a:lnSpc>
                <a:spcPct val="90000"/>
              </a:lnSpc>
              <a:spcAft>
                <a:spcPts val="600"/>
              </a:spcAft>
              <a:buFont typeface="Arial" panose="020B0604020202020204" pitchFamily="34" charset="0"/>
              <a:buChar char="•"/>
            </a:pPr>
            <a:r>
              <a:rPr lang="en-US" sz="2600" dirty="0"/>
              <a:t>📞 Contact No: 9871576888/</a:t>
            </a:r>
          </a:p>
          <a:p>
            <a:pPr>
              <a:lnSpc>
                <a:spcPct val="90000"/>
              </a:lnSpc>
              <a:spcAft>
                <a:spcPts val="600"/>
              </a:spcAft>
            </a:pPr>
            <a:r>
              <a:rPr lang="en-US" sz="2600" dirty="0"/>
              <a:t>                                            9212106941</a:t>
            </a:r>
          </a:p>
          <a:p>
            <a:pPr indent="-228600">
              <a:lnSpc>
                <a:spcPct val="90000"/>
              </a:lnSpc>
              <a:spcAft>
                <a:spcPts val="600"/>
              </a:spcAft>
              <a:buFont typeface="Arial" panose="020B0604020202020204" pitchFamily="34" charset="0"/>
              <a:buChar char="•"/>
            </a:pPr>
            <a:endParaRPr lang="en-US" sz="2600" dirty="0"/>
          </a:p>
          <a:p>
            <a:pPr indent="-228600">
              <a:lnSpc>
                <a:spcPct val="90000"/>
              </a:lnSpc>
              <a:spcAft>
                <a:spcPts val="600"/>
              </a:spcAft>
              <a:buFont typeface="Arial" panose="020B0604020202020204" pitchFamily="34" charset="0"/>
              <a:buChar char="•"/>
            </a:pPr>
            <a:r>
              <a:rPr lang="en-US" sz="2600" dirty="0"/>
              <a:t>📩 Email:</a:t>
            </a:r>
          </a:p>
          <a:p>
            <a:pPr indent="-228600">
              <a:lnSpc>
                <a:spcPct val="90000"/>
              </a:lnSpc>
              <a:spcAft>
                <a:spcPts val="600"/>
              </a:spcAft>
              <a:buFont typeface="Arial" panose="020B0604020202020204" pitchFamily="34" charset="0"/>
              <a:buChar char="•"/>
            </a:pPr>
            <a:r>
              <a:rPr lang="en-US" sz="2600" dirty="0">
                <a:hlinkClick r:id="rId3">
                  <a:extLst>
                    <a:ext uri="{A12FA001-AC4F-418D-AE19-62706E023703}">
                      <ahyp:hlinkClr xmlns:ahyp="http://schemas.microsoft.com/office/drawing/2018/hyperlinkcolor" val="tx"/>
                    </a:ext>
                  </a:extLst>
                </a:hlinkClick>
              </a:rPr>
              <a:t>grovistaglobal@gmail.com</a:t>
            </a:r>
            <a:endParaRPr lang="en-US" sz="2600" dirty="0"/>
          </a:p>
          <a:p>
            <a:pPr indent="-228600">
              <a:lnSpc>
                <a:spcPct val="90000"/>
              </a:lnSpc>
              <a:spcAft>
                <a:spcPts val="600"/>
              </a:spcAft>
              <a:buFont typeface="Arial" panose="020B0604020202020204" pitchFamily="34" charset="0"/>
              <a:buChar char="•"/>
            </a:pPr>
            <a:endParaRPr lang="en-US" sz="2600" dirty="0"/>
          </a:p>
          <a:p>
            <a:pPr indent="-228600">
              <a:lnSpc>
                <a:spcPct val="90000"/>
              </a:lnSpc>
              <a:spcAft>
                <a:spcPts val="600"/>
              </a:spcAft>
              <a:buFont typeface="Arial" panose="020B0604020202020204" pitchFamily="34" charset="0"/>
              <a:buChar char="•"/>
            </a:pPr>
            <a:r>
              <a:rPr lang="en-US" sz="2600" dirty="0"/>
              <a:t>📍 Noida, Uttar Pradesh</a:t>
            </a:r>
          </a:p>
          <a:p>
            <a:pPr indent="-228600">
              <a:lnSpc>
                <a:spcPct val="90000"/>
              </a:lnSpc>
              <a:spcAft>
                <a:spcPts val="600"/>
              </a:spcAft>
              <a:buFont typeface="Arial" panose="020B0604020202020204" pitchFamily="34" charset="0"/>
              <a:buChar char="•"/>
            </a:pPr>
            <a:endParaRPr lang="en-US" sz="2600" dirty="0"/>
          </a:p>
          <a:p>
            <a:pPr indent="-228600">
              <a:lnSpc>
                <a:spcPct val="90000"/>
              </a:lnSpc>
              <a:spcAft>
                <a:spcPts val="600"/>
              </a:spcAft>
              <a:buFont typeface="Arial" panose="020B0604020202020204" pitchFamily="34" charset="0"/>
              <a:buChar char="•"/>
            </a:pPr>
            <a:r>
              <a:rPr lang="en-US" sz="2600" dirty="0"/>
              <a:t>🌐 Website: Coming soon</a:t>
            </a:r>
          </a:p>
          <a:p>
            <a:pPr indent="-228600">
              <a:lnSpc>
                <a:spcPct val="90000"/>
              </a:lnSpc>
              <a:spcAft>
                <a:spcPts val="600"/>
              </a:spcAft>
              <a:buFont typeface="Arial" panose="020B0604020202020204" pitchFamily="34" charset="0"/>
              <a:buChar char="•"/>
            </a:pPr>
            <a:endParaRPr lang="en-US" sz="1700" dirty="0"/>
          </a:p>
        </p:txBody>
      </p:sp>
      <p:pic>
        <p:nvPicPr>
          <p:cNvPr id="5" name="Picture 4">
            <a:extLst>
              <a:ext uri="{FF2B5EF4-FFF2-40B4-BE49-F238E27FC236}">
                <a16:creationId xmlns:a16="http://schemas.microsoft.com/office/drawing/2014/main" id="{EBEAAFEF-CD06-4D54-18C5-D645485A8F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63" y="209658"/>
            <a:ext cx="1635164" cy="941835"/>
          </a:xfrm>
          <a:prstGeom prst="rect">
            <a:avLst/>
          </a:prstGeom>
        </p:spPr>
      </p:pic>
      <p:sp>
        <p:nvSpPr>
          <p:cNvPr id="6" name="TextBox 5">
            <a:extLst>
              <a:ext uri="{FF2B5EF4-FFF2-40B4-BE49-F238E27FC236}">
                <a16:creationId xmlns:a16="http://schemas.microsoft.com/office/drawing/2014/main" id="{357CE222-3B9D-931C-0EC3-E5DCC3FF9206}"/>
              </a:ext>
            </a:extLst>
          </p:cNvPr>
          <p:cNvSpPr txBox="1"/>
          <p:nvPr/>
        </p:nvSpPr>
        <p:spPr>
          <a:xfrm>
            <a:off x="7050916" y="845358"/>
            <a:ext cx="5828522" cy="1015663"/>
          </a:xfrm>
          <a:prstGeom prst="rect">
            <a:avLst/>
          </a:prstGeom>
          <a:noFill/>
        </p:spPr>
        <p:txBody>
          <a:bodyPr wrap="square" rtlCol="0">
            <a:spAutoFit/>
          </a:bodyPr>
          <a:lstStyle/>
          <a:p>
            <a:r>
              <a:rPr lang="en-US" sz="6000" b="1" dirty="0">
                <a:latin typeface="Berlin Sans FB" panose="020E0602020502020306" pitchFamily="34" charset="0"/>
              </a:rPr>
              <a:t>CONTACT US</a:t>
            </a:r>
          </a:p>
        </p:txBody>
      </p:sp>
      <p:sp>
        <p:nvSpPr>
          <p:cNvPr id="7" name="TextBox 6">
            <a:extLst>
              <a:ext uri="{FF2B5EF4-FFF2-40B4-BE49-F238E27FC236}">
                <a16:creationId xmlns:a16="http://schemas.microsoft.com/office/drawing/2014/main" id="{4C134B00-D808-F707-B2C3-24EF09D57F7A}"/>
              </a:ext>
            </a:extLst>
          </p:cNvPr>
          <p:cNvSpPr txBox="1"/>
          <p:nvPr/>
        </p:nvSpPr>
        <p:spPr>
          <a:xfrm>
            <a:off x="11050616" y="209658"/>
            <a:ext cx="1138335" cy="369332"/>
          </a:xfrm>
          <a:prstGeom prst="rect">
            <a:avLst/>
          </a:prstGeom>
          <a:noFill/>
        </p:spPr>
        <p:txBody>
          <a:bodyPr wrap="square" rtlCol="0">
            <a:spAutoFit/>
          </a:bodyPr>
          <a:lstStyle/>
          <a:p>
            <a:r>
              <a:rPr lang="en-US" b="1" dirty="0">
                <a:hlinkClick r:id="rId5" action="ppaction://hlinksldjump"/>
              </a:rPr>
              <a:t>HOME</a:t>
            </a:r>
            <a:endParaRPr lang="en-US" b="1" dirty="0"/>
          </a:p>
        </p:txBody>
      </p:sp>
    </p:spTree>
    <p:extLst>
      <p:ext uri="{BB962C8B-B14F-4D97-AF65-F5344CB8AC3E}">
        <p14:creationId xmlns:p14="http://schemas.microsoft.com/office/powerpoint/2010/main" val="53177474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537</TotalTime>
  <Words>734</Words>
  <Application>Microsoft Office PowerPoint</Application>
  <PresentationFormat>Widescreen</PresentationFormat>
  <Paragraphs>125</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Agency FB</vt:lpstr>
      <vt:lpstr>Aptos</vt:lpstr>
      <vt:lpstr>Aptos Display</vt:lpstr>
      <vt:lpstr>Arial</vt:lpstr>
      <vt:lpstr>Bahnschrift</vt:lpstr>
      <vt:lpstr>Berlin Sans FB</vt:lpstr>
      <vt:lpstr>Calibri</vt:lpstr>
      <vt:lpstr>Office Theme</vt:lpstr>
      <vt:lpstr>1_Office Theme</vt:lpstr>
      <vt:lpstr>GROVISTA GLOBAL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yashikarazdan0@gmail.com</dc:creator>
  <cp:lastModifiedBy>yashikarazdan0@gmail.com</cp:lastModifiedBy>
  <cp:revision>66</cp:revision>
  <dcterms:created xsi:type="dcterms:W3CDTF">2026-06-27T07:33:40Z</dcterms:created>
  <dcterms:modified xsi:type="dcterms:W3CDTF">2026-06-27T16:31:37Z</dcterms:modified>
</cp:coreProperties>
</file>